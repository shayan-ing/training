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60" r:id="rId4"/>
    <p:sldId id="261" r:id="rId5"/>
    <p:sldId id="262" r:id="rId6"/>
    <p:sldId id="263" r:id="rId7"/>
    <p:sldId id="264" r:id="rId8"/>
    <p:sldId id="265" r:id="rId9"/>
    <p:sldId id="267" r:id="rId10"/>
    <p:sldId id="268" r:id="rId11"/>
    <p:sldId id="269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61" d="100"/>
          <a:sy n="61" d="100"/>
        </p:scale>
        <p:origin x="109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E9802B3-F980-4186-BA43-ED489B9A9094}" type="datetimeFigureOut">
              <a:rPr lang="en-IN" smtClean="0"/>
              <a:t>13-07-2025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92CB0E4-CD37-482E-8B7B-F324C7D5A4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4802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2CB0E4-CD37-482E-8B7B-F324C7D5A40B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0955724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DA7701-AB60-9D2E-E615-ACC38FABFE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43EEC56-3E2D-981A-BB17-6D6546BE34C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D8C81F1-3963-C6B9-E75B-FC186BBA34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46F48F-6EB7-3D31-0395-8226DD10FC7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2CB0E4-CD37-482E-8B7B-F324C7D5A40B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3210504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A1824E-5E19-21F2-1A06-F869FC0931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451DAB0-DEC6-D84A-1D4D-D6375366B4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F34C858-9C78-3F1F-A8B9-DE6B154CDC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F34764-46B0-A96F-82AB-EC8BD12354A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2CB0E4-CD37-482E-8B7B-F324C7D5A40B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839607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168F41-0A3A-029B-70D6-571BD2D049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0822B5D-8B3B-BA81-9905-955F95EA96C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FA0414D-CA70-7D0C-7B16-8EA7AEE61F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10A70F-5233-DC42-6F05-3BFE5FD8D42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2CB0E4-CD37-482E-8B7B-F324C7D5A40B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3241445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BAA992-F297-7CB5-B4AB-1DA681E974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A84503C-0A90-91EE-CE01-502B801A50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63F9F9E-4712-201C-7292-D18CF83CFD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9C7091-A86D-F526-A0A9-4633C01D40D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2CB0E4-CD37-482E-8B7B-F324C7D5A40B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678651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B03BA5-FAD0-A07F-5D2F-A7DFA55E04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20856C1-AF86-57F5-A662-B3B0CFC3947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311B51F-5CEE-43A6-BADC-E28E464D97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B8FE21-1C33-2A50-DFB9-07810A7481A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2CB0E4-CD37-482E-8B7B-F324C7D5A40B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566448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80DE1E-BCEC-F9AC-94B4-472585B2C03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31F8ADC-6060-BC7C-D90D-5D33ABAAD79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7D6521-4C0C-C941-8A13-C8DE249324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8B0501-2C62-40A9-9D6B-9A1CABEE6907}" type="datetimeFigureOut">
              <a:rPr lang="en-IN" smtClean="0"/>
              <a:t>13-07-2025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9F37AE-69F2-8D47-79E5-78F905FCF5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D80DFE-3DB0-F0EB-4716-9897E7BFAE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83B2E0-CD6E-47C9-B1D3-0389FC782F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67195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93B06E-1BCB-CF67-98D7-24C25DD14B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252723-367F-1671-2A0D-AEF7E9DE51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B7261F-53BD-3A8C-D83D-7494AB06DC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8B0501-2C62-40A9-9D6B-9A1CABEE6907}" type="datetimeFigureOut">
              <a:rPr lang="en-IN" smtClean="0"/>
              <a:t>13-07-2025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26A7E8-C4AF-87FD-443F-2D5D200F5D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F3C419-85C7-CE5B-B7CD-130D02D953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83B2E0-CD6E-47C9-B1D3-0389FC782F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197033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222A15-DBD4-2795-97EA-F98AC7ED85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0AE2E6-82C8-BD7A-6166-66BB445493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4D4450-5872-8916-1977-150BC5E4EF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8B0501-2C62-40A9-9D6B-9A1CABEE6907}" type="datetimeFigureOut">
              <a:rPr lang="en-IN" smtClean="0"/>
              <a:t>13-07-2025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B821B4-7E67-24A7-5B26-79F5EA69E4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EDFD60-17B1-6B28-76B9-C9AA9AD29D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83B2E0-CD6E-47C9-B1D3-0389FC782F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40423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DF1012-505F-1E0D-1455-F52551D391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DC569E-B289-DC3F-2645-B51E4AF326C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CD7ADE-278C-CF22-75BF-1425A0CB5E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7F75DA-7BCD-842A-357E-79D00094EE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8B0501-2C62-40A9-9D6B-9A1CABEE6907}" type="datetimeFigureOut">
              <a:rPr lang="en-IN" smtClean="0"/>
              <a:t>13-07-2025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E181A8-DAEC-A47A-CADE-4D942496DB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0446BA-0A97-35DB-C9F8-F4218488BD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83B2E0-CD6E-47C9-B1D3-0389FC782F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23003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E1AFF2-578F-DF6C-9E5E-7FD8147696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3D1165-9286-92E3-9D88-7AE55EFE95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CA91EE1-2D96-FEFA-E7E0-803E4D4A11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A03BCFD-5F46-FCB1-F277-0536ABD6964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2185795-CAE3-27FE-B9C7-9349DF8A222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0E81165-52CE-52A5-52F7-38038F59FD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8B0501-2C62-40A9-9D6B-9A1CABEE6907}" type="datetimeFigureOut">
              <a:rPr lang="en-IN" smtClean="0"/>
              <a:t>13-07-2025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CDED8CA-9FBD-1F18-6EBB-11D0D667A0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CF65B13-39D4-8C6B-4E52-BAF9AF468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83B2E0-CD6E-47C9-B1D3-0389FC782F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0182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D86BD8-BC81-BD85-DF5F-515036AC7C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1647C4F-C75D-B1D7-A149-BA03F61F42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8B0501-2C62-40A9-9D6B-9A1CABEE6907}" type="datetimeFigureOut">
              <a:rPr lang="en-IN" smtClean="0"/>
              <a:t>13-07-2025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8C1D520-13B0-0C4D-2F4B-05D711113E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20E3DF7-CED6-EC04-EA6A-46BFD19AF2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83B2E0-CD6E-47C9-B1D3-0389FC782F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909080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FDDEB88-F813-B107-93CD-1E65E4B09E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8B0501-2C62-40A9-9D6B-9A1CABEE6907}" type="datetimeFigureOut">
              <a:rPr lang="en-IN" smtClean="0"/>
              <a:t>13-07-2025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20ACEB5-2E4C-C93F-E628-B75ADEE0D2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DCFA26-6526-E830-C3CB-78C09A65BF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83B2E0-CD6E-47C9-B1D3-0389FC782F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445850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EB1D99-7550-0820-7180-16BC438BB9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33FBA0-E52C-10E8-DC7D-7A7BE979EC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20B559F-04B2-D185-4AE8-42039619A5B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0B60AB-1ED2-93EC-42F8-6CE96C2281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8B0501-2C62-40A9-9D6B-9A1CABEE6907}" type="datetimeFigureOut">
              <a:rPr lang="en-IN" smtClean="0"/>
              <a:t>13-07-2025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3AF51C-42E2-597B-F505-FDA318D66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36FB835-6F19-2946-0946-E6E8C6A0DF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83B2E0-CD6E-47C9-B1D3-0389FC782F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008395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125E46-0E7A-D4AF-D1BD-24013EB0FA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3967980-740F-763A-87CF-7CB9CFBB6F6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240932A-35DA-173B-44B3-CAB752733C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FDEF0C0-0521-6F43-32E9-5F38A62DF6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8B0501-2C62-40A9-9D6B-9A1CABEE6907}" type="datetimeFigureOut">
              <a:rPr lang="en-IN" smtClean="0"/>
              <a:t>13-07-2025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8FA6BA-47AB-E491-B0FD-0179767E4A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1D48AF-7188-1D0D-6E60-1E4BD6D5CB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83B2E0-CD6E-47C9-B1D3-0389FC782F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368098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03BFC0-264B-F748-7265-9B9A199367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912628E-693D-E368-2050-1DFDFABF4C4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2E7EC-C875-6174-CD2F-5E774FF376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8B0501-2C62-40A9-9D6B-9A1CABEE6907}" type="datetimeFigureOut">
              <a:rPr lang="en-IN" smtClean="0"/>
              <a:t>13-07-2025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C7B1E3-7F99-52F8-3386-AB89905BFC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0847A5-9B36-EFC0-3F66-8C6C8CBF5D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83B2E0-CD6E-47C9-B1D3-0389FC782F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12217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C990BBF-1664-6F8A-231A-A9500F1CF88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5909E3D-47A2-DA91-E772-817A5B78EC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0F3C02-8382-13F1-27ED-4F87903772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8B0501-2C62-40A9-9D6B-9A1CABEE6907}" type="datetimeFigureOut">
              <a:rPr lang="en-IN" smtClean="0"/>
              <a:t>13-07-2025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757EBF-6C0C-48AC-4825-C7C058702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435D88-1115-47E0-1F7C-3BC863E98B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83B2E0-CD6E-47C9-B1D3-0389FC782F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215284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02A260E-DABA-CCCF-F497-88DFD6A00F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82AAD2-750D-A3FC-31A6-27FF9A9A71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D70DAF-3454-2166-DF82-EF09FF39BA3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8B0501-2C62-40A9-9D6B-9A1CABEE6907}" type="datetimeFigureOut">
              <a:rPr lang="en-IN" smtClean="0"/>
              <a:t>13-07-2025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0B53DC-E28C-B7BF-F5D1-9CA389DED76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C528FB-D50E-858C-11F7-0FDBE07976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83B2E0-CD6E-47C9-B1D3-0389FC782F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135506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7" Type="http://schemas.openxmlformats.org/officeDocument/2006/relationships/image" Target="../media/image4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1" name="Group 130">
            <a:extLst>
              <a:ext uri="{FF2B5EF4-FFF2-40B4-BE49-F238E27FC236}">
                <a16:creationId xmlns:a16="http://schemas.microsoft.com/office/drawing/2014/main" id="{7F1506F9-73BB-0F58-4655-FD59617BC5D2}"/>
              </a:ext>
            </a:extLst>
          </p:cNvPr>
          <p:cNvGrpSpPr/>
          <p:nvPr/>
        </p:nvGrpSpPr>
        <p:grpSpPr>
          <a:xfrm>
            <a:off x="2286001" y="280219"/>
            <a:ext cx="7886711" cy="6037519"/>
            <a:chOff x="2286001" y="280219"/>
            <a:chExt cx="7886711" cy="6037519"/>
          </a:xfrm>
        </p:grpSpPr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25FBF380-B119-1C2B-EDE4-F86269D4988B}"/>
                </a:ext>
              </a:extLst>
            </p:cNvPr>
            <p:cNvSpPr/>
            <p:nvPr/>
          </p:nvSpPr>
          <p:spPr>
            <a:xfrm>
              <a:off x="7816644" y="280219"/>
              <a:ext cx="2286000" cy="369332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A33B7106-2CE1-5E5F-4C81-1D397F83F2B7}"/>
                </a:ext>
              </a:extLst>
            </p:cNvPr>
            <p:cNvSpPr/>
            <p:nvPr/>
          </p:nvSpPr>
          <p:spPr>
            <a:xfrm>
              <a:off x="2286001" y="280219"/>
              <a:ext cx="2286000" cy="369332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593BE82A-3B13-7D03-8DAD-0F9B7FD3B70F}"/>
                </a:ext>
              </a:extLst>
            </p:cNvPr>
            <p:cNvSpPr txBox="1"/>
            <p:nvPr/>
          </p:nvSpPr>
          <p:spPr>
            <a:xfrm>
              <a:off x="2286001" y="291170"/>
              <a:ext cx="788671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/>
                <a:t>Knowledge Extraction </a:t>
              </a:r>
              <a:r>
                <a:rPr lang="en-US" dirty="0"/>
                <a:t>: From </a:t>
              </a:r>
              <a:r>
                <a:rPr lang="en-US" b="1" dirty="0"/>
                <a:t>Unstructured Text Output </a:t>
              </a:r>
              <a:r>
                <a:rPr lang="en-US" dirty="0"/>
                <a:t>to </a:t>
              </a:r>
              <a:r>
                <a:rPr lang="en-US" b="1" dirty="0"/>
                <a:t>Structured Information</a:t>
              </a:r>
              <a:endParaRPr lang="en-IN" b="1" dirty="0"/>
            </a:p>
          </p:txBody>
        </p:sp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8CD8F0EC-9DA7-CC0E-BB0A-51C2285EE20F}"/>
                </a:ext>
              </a:extLst>
            </p:cNvPr>
            <p:cNvSpPr/>
            <p:nvPr/>
          </p:nvSpPr>
          <p:spPr>
            <a:xfrm>
              <a:off x="6836711" y="2336378"/>
              <a:ext cx="2286000" cy="369332"/>
            </a:xfrm>
            <a:prstGeom prst="roundRect">
              <a:avLst>
                <a:gd name="adj" fmla="val 5844"/>
              </a:avLst>
            </a:prstGeom>
            <a:solidFill>
              <a:schemeClr val="bg1">
                <a:lumMod val="75000"/>
              </a:schemeClr>
            </a:solidFill>
            <a:ln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</a:rPr>
                <a:t>Entities</a:t>
              </a:r>
              <a:endParaRPr lang="en-IN" b="1" dirty="0">
                <a:solidFill>
                  <a:schemeClr val="tx1"/>
                </a:solidFill>
              </a:endParaRPr>
            </a:p>
          </p:txBody>
        </p:sp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57153E35-478D-7C91-AC97-362CECC5176B}"/>
                </a:ext>
              </a:extLst>
            </p:cNvPr>
            <p:cNvSpPr/>
            <p:nvPr/>
          </p:nvSpPr>
          <p:spPr>
            <a:xfrm>
              <a:off x="6836711" y="3757574"/>
              <a:ext cx="2286000" cy="369332"/>
            </a:xfrm>
            <a:prstGeom prst="roundRect">
              <a:avLst>
                <a:gd name="adj" fmla="val 5844"/>
              </a:avLst>
            </a:prstGeom>
            <a:solidFill>
              <a:schemeClr val="bg1">
                <a:lumMod val="75000"/>
              </a:schemeClr>
            </a:solidFill>
            <a:ln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</a:rPr>
                <a:t>Events</a:t>
              </a:r>
              <a:endParaRPr lang="en-IN" b="1" dirty="0">
                <a:solidFill>
                  <a:schemeClr val="tx1"/>
                </a:solidFill>
              </a:endParaRPr>
            </a:p>
          </p:txBody>
        </p:sp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BA363179-5580-DCF5-4D6A-0C9CA87EB989}"/>
                </a:ext>
              </a:extLst>
            </p:cNvPr>
            <p:cNvSpPr/>
            <p:nvPr/>
          </p:nvSpPr>
          <p:spPr>
            <a:xfrm>
              <a:off x="6836711" y="5158982"/>
              <a:ext cx="2286000" cy="369332"/>
            </a:xfrm>
            <a:prstGeom prst="roundRect">
              <a:avLst>
                <a:gd name="adj" fmla="val 5844"/>
              </a:avLst>
            </a:prstGeom>
            <a:solidFill>
              <a:schemeClr val="bg1">
                <a:lumMod val="75000"/>
              </a:schemeClr>
            </a:solidFill>
            <a:ln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</a:rPr>
                <a:t>Relationships</a:t>
              </a:r>
              <a:endParaRPr lang="en-IN" b="1" dirty="0">
                <a:solidFill>
                  <a:schemeClr val="tx1"/>
                </a:solidFill>
              </a:endParaRPr>
            </a:p>
          </p:txBody>
        </p:sp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F51B0E1C-9FC1-0313-0110-C1A1D069B99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575845" y="1589283"/>
              <a:ext cx="692869" cy="692869"/>
            </a:xfrm>
            <a:prstGeom prst="rect">
              <a:avLst/>
            </a:prstGeom>
          </p:spPr>
        </p:pic>
        <p:pic>
          <p:nvPicPr>
            <p:cNvPr id="27" name="Picture 26">
              <a:extLst>
                <a:ext uri="{FF2B5EF4-FFF2-40B4-BE49-F238E27FC236}">
                  <a16:creationId xmlns:a16="http://schemas.microsoft.com/office/drawing/2014/main" id="{64D05D79-8441-1B63-1A8A-44005B54C03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88444" y="4430596"/>
              <a:ext cx="624110" cy="624110"/>
            </a:xfrm>
            <a:prstGeom prst="rect">
              <a:avLst/>
            </a:prstGeom>
          </p:spPr>
        </p:pic>
        <p:pic>
          <p:nvPicPr>
            <p:cNvPr id="29" name="Picture 28">
              <a:extLst>
                <a:ext uri="{FF2B5EF4-FFF2-40B4-BE49-F238E27FC236}">
                  <a16:creationId xmlns:a16="http://schemas.microsoft.com/office/drawing/2014/main" id="{AB534B0A-DEBD-D65F-E6E6-8E4D47A1E2C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75217" y="3045806"/>
              <a:ext cx="576125" cy="576125"/>
            </a:xfrm>
            <a:prstGeom prst="rect">
              <a:avLst/>
            </a:prstGeom>
          </p:spPr>
        </p:pic>
        <p:sp>
          <p:nvSpPr>
            <p:cNvPr id="36" name="Rectangle: Rounded Corners 35">
              <a:extLst>
                <a:ext uri="{FF2B5EF4-FFF2-40B4-BE49-F238E27FC236}">
                  <a16:creationId xmlns:a16="http://schemas.microsoft.com/office/drawing/2014/main" id="{6E01585D-8A09-68AB-9DB8-3C33962A8CD0}"/>
                </a:ext>
              </a:extLst>
            </p:cNvPr>
            <p:cNvSpPr/>
            <p:nvPr/>
          </p:nvSpPr>
          <p:spPr>
            <a:xfrm>
              <a:off x="2553713" y="1350408"/>
              <a:ext cx="2286000" cy="369332"/>
            </a:xfrm>
            <a:prstGeom prst="roundRect">
              <a:avLst>
                <a:gd name="adj" fmla="val 5844"/>
              </a:avLst>
            </a:prstGeom>
            <a:solidFill>
              <a:schemeClr val="bg1">
                <a:lumMod val="75000"/>
              </a:schemeClr>
            </a:solidFill>
            <a:ln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</a:rPr>
                <a:t>Techniques</a:t>
              </a:r>
              <a:endParaRPr lang="en-IN" b="1" dirty="0">
                <a:solidFill>
                  <a:schemeClr val="tx1"/>
                </a:solidFill>
              </a:endParaRPr>
            </a:p>
          </p:txBody>
        </p:sp>
        <p:sp>
          <p:nvSpPr>
            <p:cNvPr id="37" name="Rectangle: Rounded Corners 36">
              <a:extLst>
                <a:ext uri="{FF2B5EF4-FFF2-40B4-BE49-F238E27FC236}">
                  <a16:creationId xmlns:a16="http://schemas.microsoft.com/office/drawing/2014/main" id="{DB87ECD8-FE13-2CA9-4AED-F262F4D3D569}"/>
                </a:ext>
              </a:extLst>
            </p:cNvPr>
            <p:cNvSpPr/>
            <p:nvPr/>
          </p:nvSpPr>
          <p:spPr>
            <a:xfrm>
              <a:off x="3065909" y="2214352"/>
              <a:ext cx="2992693" cy="369332"/>
            </a:xfrm>
            <a:prstGeom prst="roundRect">
              <a:avLst>
                <a:gd name="adj" fmla="val 5844"/>
              </a:avLst>
            </a:prstGeom>
            <a:solidFill>
              <a:schemeClr val="bg1">
                <a:lumMod val="75000"/>
              </a:schemeClr>
            </a:solidFill>
            <a:ln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</a:rPr>
                <a:t>Named Entity Recognition</a:t>
              </a:r>
              <a:endParaRPr lang="en-IN" b="1" dirty="0">
                <a:solidFill>
                  <a:schemeClr val="tx1"/>
                </a:solidFill>
              </a:endParaRPr>
            </a:p>
          </p:txBody>
        </p:sp>
        <p:sp>
          <p:nvSpPr>
            <p:cNvPr id="38" name="Rectangle: Rounded Corners 37">
              <a:extLst>
                <a:ext uri="{FF2B5EF4-FFF2-40B4-BE49-F238E27FC236}">
                  <a16:creationId xmlns:a16="http://schemas.microsoft.com/office/drawing/2014/main" id="{6869AF68-C855-43EF-00D5-F642AD8C2ACC}"/>
                </a:ext>
              </a:extLst>
            </p:cNvPr>
            <p:cNvSpPr/>
            <p:nvPr/>
          </p:nvSpPr>
          <p:spPr>
            <a:xfrm>
              <a:off x="3069292" y="3078296"/>
              <a:ext cx="2992693" cy="369332"/>
            </a:xfrm>
            <a:prstGeom prst="roundRect">
              <a:avLst>
                <a:gd name="adj" fmla="val 5844"/>
              </a:avLst>
            </a:prstGeom>
            <a:solidFill>
              <a:schemeClr val="bg1">
                <a:lumMod val="75000"/>
              </a:schemeClr>
            </a:solidFill>
            <a:ln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</a:rPr>
                <a:t>Relation Extraction</a:t>
              </a:r>
              <a:endParaRPr lang="en-IN" b="1" dirty="0">
                <a:solidFill>
                  <a:schemeClr val="tx1"/>
                </a:solidFill>
              </a:endParaRPr>
            </a:p>
          </p:txBody>
        </p:sp>
        <p:sp>
          <p:nvSpPr>
            <p:cNvPr id="39" name="Rectangle: Rounded Corners 38">
              <a:extLst>
                <a:ext uri="{FF2B5EF4-FFF2-40B4-BE49-F238E27FC236}">
                  <a16:creationId xmlns:a16="http://schemas.microsoft.com/office/drawing/2014/main" id="{6CF20005-0BF2-938E-CFEE-7094DBB20D42}"/>
                </a:ext>
              </a:extLst>
            </p:cNvPr>
            <p:cNvSpPr/>
            <p:nvPr/>
          </p:nvSpPr>
          <p:spPr>
            <a:xfrm>
              <a:off x="3065909" y="3925706"/>
              <a:ext cx="2992693" cy="369332"/>
            </a:xfrm>
            <a:prstGeom prst="roundRect">
              <a:avLst>
                <a:gd name="adj" fmla="val 5844"/>
              </a:avLst>
            </a:prstGeom>
            <a:solidFill>
              <a:schemeClr val="bg1">
                <a:lumMod val="75000"/>
              </a:schemeClr>
            </a:solidFill>
            <a:ln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</a:rPr>
                <a:t>Event Extraction</a:t>
              </a:r>
              <a:endParaRPr lang="en-IN" b="1" dirty="0">
                <a:solidFill>
                  <a:schemeClr val="tx1"/>
                </a:solidFill>
              </a:endParaRPr>
            </a:p>
          </p:txBody>
        </p:sp>
        <p:sp>
          <p:nvSpPr>
            <p:cNvPr id="40" name="Rectangle: Rounded Corners 39">
              <a:extLst>
                <a:ext uri="{FF2B5EF4-FFF2-40B4-BE49-F238E27FC236}">
                  <a16:creationId xmlns:a16="http://schemas.microsoft.com/office/drawing/2014/main" id="{A7CAF9CD-283A-D43B-502F-756BB77C4E67}"/>
                </a:ext>
              </a:extLst>
            </p:cNvPr>
            <p:cNvSpPr/>
            <p:nvPr/>
          </p:nvSpPr>
          <p:spPr>
            <a:xfrm>
              <a:off x="3065910" y="4789650"/>
              <a:ext cx="2992693" cy="369332"/>
            </a:xfrm>
            <a:prstGeom prst="roundRect">
              <a:avLst>
                <a:gd name="adj" fmla="val 5844"/>
              </a:avLst>
            </a:prstGeom>
            <a:solidFill>
              <a:schemeClr val="bg1">
                <a:lumMod val="75000"/>
              </a:schemeClr>
            </a:solidFill>
            <a:ln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</a:rPr>
                <a:t>Prompt Engineering</a:t>
              </a:r>
              <a:endParaRPr lang="en-IN" b="1" dirty="0">
                <a:solidFill>
                  <a:schemeClr val="tx1"/>
                </a:solidFill>
              </a:endParaRPr>
            </a:p>
          </p:txBody>
        </p:sp>
        <p:sp>
          <p:nvSpPr>
            <p:cNvPr id="41" name="Rectangle: Rounded Corners 40">
              <a:extLst>
                <a:ext uri="{FF2B5EF4-FFF2-40B4-BE49-F238E27FC236}">
                  <a16:creationId xmlns:a16="http://schemas.microsoft.com/office/drawing/2014/main" id="{8EA81858-E0D8-BE6D-2081-04FAA6552316}"/>
                </a:ext>
              </a:extLst>
            </p:cNvPr>
            <p:cNvSpPr/>
            <p:nvPr/>
          </p:nvSpPr>
          <p:spPr>
            <a:xfrm>
              <a:off x="3065909" y="5653594"/>
              <a:ext cx="2992693" cy="664144"/>
            </a:xfrm>
            <a:prstGeom prst="roundRect">
              <a:avLst>
                <a:gd name="adj" fmla="val 5844"/>
              </a:avLst>
            </a:prstGeom>
            <a:solidFill>
              <a:schemeClr val="bg1">
                <a:lumMod val="75000"/>
              </a:schemeClr>
            </a:solidFill>
            <a:ln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</a:rPr>
                <a:t>Few Shot / Zero-Shot Learning</a:t>
              </a:r>
              <a:endParaRPr lang="en-IN" b="1" dirty="0">
                <a:solidFill>
                  <a:schemeClr val="tx1"/>
                </a:solidFill>
              </a:endParaRPr>
            </a:p>
          </p:txBody>
        </p:sp>
        <p:cxnSp>
          <p:nvCxnSpPr>
            <p:cNvPr id="45" name="Connector: Elbow 44">
              <a:extLst>
                <a:ext uri="{FF2B5EF4-FFF2-40B4-BE49-F238E27FC236}">
                  <a16:creationId xmlns:a16="http://schemas.microsoft.com/office/drawing/2014/main" id="{D7F77481-F10B-3841-EF7F-4DBA82E2CC08}"/>
                </a:ext>
              </a:extLst>
            </p:cNvPr>
            <p:cNvCxnSpPr>
              <a:cxnSpLocks/>
              <a:stCxn id="5" idx="1"/>
              <a:endCxn id="36" idx="0"/>
            </p:cNvCxnSpPr>
            <p:nvPr/>
          </p:nvCxnSpPr>
          <p:spPr>
            <a:xfrm rot="10800000" flipH="1" flipV="1">
              <a:off x="2286001" y="475836"/>
              <a:ext cx="1410712" cy="874572"/>
            </a:xfrm>
            <a:prstGeom prst="bentConnector4">
              <a:avLst>
                <a:gd name="adj1" fmla="val -16205"/>
                <a:gd name="adj2" fmla="val 48753"/>
              </a:avLst>
            </a:prstGeom>
            <a:ln w="76200">
              <a:solidFill>
                <a:schemeClr val="bg2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Connector: Elbow 46">
              <a:extLst>
                <a:ext uri="{FF2B5EF4-FFF2-40B4-BE49-F238E27FC236}">
                  <a16:creationId xmlns:a16="http://schemas.microsoft.com/office/drawing/2014/main" id="{8C233D57-9761-2A56-AA6B-BDE5FE8C9752}"/>
                </a:ext>
              </a:extLst>
            </p:cNvPr>
            <p:cNvCxnSpPr>
              <a:stCxn id="36" idx="1"/>
              <a:endCxn id="37" idx="1"/>
            </p:cNvCxnSpPr>
            <p:nvPr/>
          </p:nvCxnSpPr>
          <p:spPr>
            <a:xfrm rot="10800000" flipH="1" flipV="1">
              <a:off x="2553713" y="1535074"/>
              <a:ext cx="512196" cy="863944"/>
            </a:xfrm>
            <a:prstGeom prst="bentConnector3">
              <a:avLst>
                <a:gd name="adj1" fmla="val -44631"/>
              </a:avLst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Connector: Elbow 48">
              <a:extLst>
                <a:ext uri="{FF2B5EF4-FFF2-40B4-BE49-F238E27FC236}">
                  <a16:creationId xmlns:a16="http://schemas.microsoft.com/office/drawing/2014/main" id="{A820D48F-D6E2-7681-C0B0-2E5A3E404180}"/>
                </a:ext>
              </a:extLst>
            </p:cNvPr>
            <p:cNvCxnSpPr>
              <a:stCxn id="36" idx="1"/>
              <a:endCxn id="38" idx="1"/>
            </p:cNvCxnSpPr>
            <p:nvPr/>
          </p:nvCxnSpPr>
          <p:spPr>
            <a:xfrm rot="10800000" flipH="1" flipV="1">
              <a:off x="2553712" y="1535074"/>
              <a:ext cx="515579" cy="1727888"/>
            </a:xfrm>
            <a:prstGeom prst="bentConnector3">
              <a:avLst>
                <a:gd name="adj1" fmla="val -44339"/>
              </a:avLst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Connector: Elbow 50">
              <a:extLst>
                <a:ext uri="{FF2B5EF4-FFF2-40B4-BE49-F238E27FC236}">
                  <a16:creationId xmlns:a16="http://schemas.microsoft.com/office/drawing/2014/main" id="{D1172D96-8436-9B53-9162-C9FA11A38B1A}"/>
                </a:ext>
              </a:extLst>
            </p:cNvPr>
            <p:cNvCxnSpPr>
              <a:stCxn id="36" idx="1"/>
              <a:endCxn id="39" idx="1"/>
            </p:cNvCxnSpPr>
            <p:nvPr/>
          </p:nvCxnSpPr>
          <p:spPr>
            <a:xfrm rot="10800000" flipH="1" flipV="1">
              <a:off x="2553713" y="1535074"/>
              <a:ext cx="512196" cy="2575298"/>
            </a:xfrm>
            <a:prstGeom prst="bentConnector3">
              <a:avLst>
                <a:gd name="adj1" fmla="val -44631"/>
              </a:avLst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Connector: Elbow 52">
              <a:extLst>
                <a:ext uri="{FF2B5EF4-FFF2-40B4-BE49-F238E27FC236}">
                  <a16:creationId xmlns:a16="http://schemas.microsoft.com/office/drawing/2014/main" id="{C6A21FDE-9A98-2190-AD9A-FFF598A7E0C3}"/>
                </a:ext>
              </a:extLst>
            </p:cNvPr>
            <p:cNvCxnSpPr>
              <a:stCxn id="36" idx="1"/>
              <a:endCxn id="40" idx="1"/>
            </p:cNvCxnSpPr>
            <p:nvPr/>
          </p:nvCxnSpPr>
          <p:spPr>
            <a:xfrm rot="10800000" flipH="1" flipV="1">
              <a:off x="2553712" y="1535074"/>
              <a:ext cx="512197" cy="3439242"/>
            </a:xfrm>
            <a:prstGeom prst="bentConnector3">
              <a:avLst>
                <a:gd name="adj1" fmla="val -44631"/>
              </a:avLst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Connector: Elbow 54">
              <a:extLst>
                <a:ext uri="{FF2B5EF4-FFF2-40B4-BE49-F238E27FC236}">
                  <a16:creationId xmlns:a16="http://schemas.microsoft.com/office/drawing/2014/main" id="{6F9C798B-03E9-3AC3-468E-53D90AE1890F}"/>
                </a:ext>
              </a:extLst>
            </p:cNvPr>
            <p:cNvCxnSpPr>
              <a:stCxn id="36" idx="1"/>
              <a:endCxn id="41" idx="1"/>
            </p:cNvCxnSpPr>
            <p:nvPr/>
          </p:nvCxnSpPr>
          <p:spPr>
            <a:xfrm rot="10800000" flipH="1" flipV="1">
              <a:off x="2553713" y="1535074"/>
              <a:ext cx="512196" cy="4450592"/>
            </a:xfrm>
            <a:prstGeom prst="bentConnector3">
              <a:avLst>
                <a:gd name="adj1" fmla="val -44631"/>
              </a:avLst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68" name="Picture 67">
              <a:extLst>
                <a:ext uri="{FF2B5EF4-FFF2-40B4-BE49-F238E27FC236}">
                  <a16:creationId xmlns:a16="http://schemas.microsoft.com/office/drawing/2014/main" id="{F9193E64-05AA-4A94-F64E-3AEAD4F1E36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248941" y="1311680"/>
              <a:ext cx="774676" cy="774676"/>
            </a:xfrm>
            <a:prstGeom prst="rect">
              <a:avLst/>
            </a:prstGeom>
          </p:spPr>
        </p:pic>
        <p:cxnSp>
          <p:nvCxnSpPr>
            <p:cNvPr id="110" name="Connector: Elbow 109">
              <a:extLst>
                <a:ext uri="{FF2B5EF4-FFF2-40B4-BE49-F238E27FC236}">
                  <a16:creationId xmlns:a16="http://schemas.microsoft.com/office/drawing/2014/main" id="{75F2EB5F-9F9F-8F7B-FDA5-EB0E7E56F410}"/>
                </a:ext>
              </a:extLst>
            </p:cNvPr>
            <p:cNvCxnSpPr>
              <a:stCxn id="9" idx="3"/>
              <a:endCxn id="10" idx="3"/>
            </p:cNvCxnSpPr>
            <p:nvPr/>
          </p:nvCxnSpPr>
          <p:spPr>
            <a:xfrm flipH="1">
              <a:off x="9122711" y="464885"/>
              <a:ext cx="979933" cy="2056159"/>
            </a:xfrm>
            <a:prstGeom prst="bentConnector3">
              <a:avLst>
                <a:gd name="adj1" fmla="val -23328"/>
              </a:avLst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12" name="Connector: Elbow 111">
              <a:extLst>
                <a:ext uri="{FF2B5EF4-FFF2-40B4-BE49-F238E27FC236}">
                  <a16:creationId xmlns:a16="http://schemas.microsoft.com/office/drawing/2014/main" id="{CF746B0B-5EB9-D7B2-0C4A-19FFBAA7EE8B}"/>
                </a:ext>
              </a:extLst>
            </p:cNvPr>
            <p:cNvCxnSpPr>
              <a:stCxn id="9" idx="3"/>
              <a:endCxn id="11" idx="3"/>
            </p:cNvCxnSpPr>
            <p:nvPr/>
          </p:nvCxnSpPr>
          <p:spPr>
            <a:xfrm flipH="1">
              <a:off x="9122711" y="464885"/>
              <a:ext cx="979933" cy="3477355"/>
            </a:xfrm>
            <a:prstGeom prst="bentConnector3">
              <a:avLst>
                <a:gd name="adj1" fmla="val -23328"/>
              </a:avLst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14" name="Connector: Elbow 113">
              <a:extLst>
                <a:ext uri="{FF2B5EF4-FFF2-40B4-BE49-F238E27FC236}">
                  <a16:creationId xmlns:a16="http://schemas.microsoft.com/office/drawing/2014/main" id="{90B55830-1D93-404E-F096-389418A245E5}"/>
                </a:ext>
              </a:extLst>
            </p:cNvPr>
            <p:cNvCxnSpPr>
              <a:stCxn id="9" idx="3"/>
              <a:endCxn id="12" idx="3"/>
            </p:cNvCxnSpPr>
            <p:nvPr/>
          </p:nvCxnSpPr>
          <p:spPr>
            <a:xfrm flipH="1">
              <a:off x="9122711" y="464885"/>
              <a:ext cx="979933" cy="4878763"/>
            </a:xfrm>
            <a:prstGeom prst="bentConnector3">
              <a:avLst>
                <a:gd name="adj1" fmla="val -23328"/>
              </a:avLst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16" name="Rectangle: Rounded Corners 115">
              <a:extLst>
                <a:ext uri="{FF2B5EF4-FFF2-40B4-BE49-F238E27FC236}">
                  <a16:creationId xmlns:a16="http://schemas.microsoft.com/office/drawing/2014/main" id="{9806093A-CB46-FE29-B506-8788504D26F9}"/>
                </a:ext>
              </a:extLst>
            </p:cNvPr>
            <p:cNvSpPr/>
            <p:nvPr/>
          </p:nvSpPr>
          <p:spPr>
            <a:xfrm>
              <a:off x="6836711" y="810967"/>
              <a:ext cx="3265933" cy="692868"/>
            </a:xfrm>
            <a:prstGeom prst="roundRect">
              <a:avLst/>
            </a:prstGeom>
            <a:noFill/>
            <a:ln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i="1" dirty="0">
                  <a:solidFill>
                    <a:schemeClr val="tx1"/>
                  </a:solidFill>
                </a:rPr>
                <a:t>Structured Information / Knowledge can be formatted </a:t>
              </a:r>
              <a:r>
                <a:rPr lang="en-US" sz="1600" b="1" i="1" dirty="0">
                  <a:solidFill>
                    <a:schemeClr val="tx1"/>
                  </a:solidFill>
                </a:rPr>
                <a:t>into Graphs, Table </a:t>
              </a:r>
              <a:r>
                <a:rPr lang="en-US" sz="1600" i="1" dirty="0">
                  <a:solidFill>
                    <a:schemeClr val="tx1"/>
                  </a:solidFill>
                </a:rPr>
                <a:t>and </a:t>
              </a:r>
              <a:r>
                <a:rPr lang="en-US" sz="1600" b="1" i="1" dirty="0">
                  <a:solidFill>
                    <a:schemeClr val="tx1"/>
                  </a:solidFill>
                </a:rPr>
                <a:t>Ontologies</a:t>
              </a:r>
              <a:endParaRPr lang="en-IN" sz="1600" b="1" i="1" dirty="0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892597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EF28CB-188D-9A58-C94E-B03E72FE09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3E67D42D-0142-5B5E-7245-A716565E7A38}"/>
              </a:ext>
            </a:extLst>
          </p:cNvPr>
          <p:cNvSpPr/>
          <p:nvPr/>
        </p:nvSpPr>
        <p:spPr>
          <a:xfrm>
            <a:off x="4377929" y="492785"/>
            <a:ext cx="4078235" cy="369332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2A463F8-58C2-3977-B819-DB9674714BFE}"/>
              </a:ext>
            </a:extLst>
          </p:cNvPr>
          <p:cNvSpPr txBox="1"/>
          <p:nvPr/>
        </p:nvSpPr>
        <p:spPr>
          <a:xfrm>
            <a:off x="4377929" y="508409"/>
            <a:ext cx="4087761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b="1" dirty="0"/>
              <a:t>Knowledge Extraction </a:t>
            </a:r>
            <a:r>
              <a:rPr lang="en-US" dirty="0"/>
              <a:t>in</a:t>
            </a:r>
            <a:r>
              <a:rPr lang="en-US" b="1" dirty="0"/>
              <a:t> Defense Context</a:t>
            </a:r>
            <a:endParaRPr lang="en-IN" b="1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9173B337-D5B8-D414-531F-8B1E981F0EB7}"/>
              </a:ext>
            </a:extLst>
          </p:cNvPr>
          <p:cNvSpPr/>
          <p:nvPr/>
        </p:nvSpPr>
        <p:spPr>
          <a:xfrm>
            <a:off x="2922026" y="1416467"/>
            <a:ext cx="1854608" cy="369332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  <a:prstDash val="solid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/>
              <a:t>Applications</a:t>
            </a:r>
            <a:endParaRPr lang="en-IN" b="1" dirty="0"/>
          </a:p>
        </p:txBody>
      </p:sp>
      <p:cxnSp>
        <p:nvCxnSpPr>
          <p:cNvPr id="10" name="Connector: Elbow 9">
            <a:extLst>
              <a:ext uri="{FF2B5EF4-FFF2-40B4-BE49-F238E27FC236}">
                <a16:creationId xmlns:a16="http://schemas.microsoft.com/office/drawing/2014/main" id="{2FE94041-D5EF-8D3D-3070-17280EF2B2C4}"/>
              </a:ext>
            </a:extLst>
          </p:cNvPr>
          <p:cNvCxnSpPr>
            <a:cxnSpLocks/>
          </p:cNvCxnSpPr>
          <p:nvPr/>
        </p:nvCxnSpPr>
        <p:spPr>
          <a:xfrm rot="10800000" flipV="1">
            <a:off x="3790422" y="706749"/>
            <a:ext cx="528599" cy="723392"/>
          </a:xfrm>
          <a:prstGeom prst="bentConnector2">
            <a:avLst/>
          </a:prstGeom>
          <a:ln w="57150">
            <a:solidFill>
              <a:schemeClr val="bg2">
                <a:lumMod val="75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D9BA17D6-7AD6-B703-E4F4-63CDD2B3AE61}"/>
              </a:ext>
            </a:extLst>
          </p:cNvPr>
          <p:cNvSpPr/>
          <p:nvPr/>
        </p:nvSpPr>
        <p:spPr>
          <a:xfrm>
            <a:off x="3222790" y="2481516"/>
            <a:ext cx="3347883" cy="369332"/>
          </a:xfrm>
          <a:prstGeom prst="roundRect">
            <a:avLst/>
          </a:prstGeom>
          <a:solidFill>
            <a:schemeClr val="bg1">
              <a:lumMod val="75000"/>
            </a:schemeClr>
          </a:solidFill>
          <a:ln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Threat Identification</a:t>
            </a:r>
            <a:endParaRPr lang="en-IN" b="1" dirty="0">
              <a:solidFill>
                <a:schemeClr val="tx1"/>
              </a:solidFill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769EE234-3151-B4A3-28B1-5C8280D35A2A}"/>
              </a:ext>
            </a:extLst>
          </p:cNvPr>
          <p:cNvSpPr/>
          <p:nvPr/>
        </p:nvSpPr>
        <p:spPr>
          <a:xfrm>
            <a:off x="3230592" y="3601349"/>
            <a:ext cx="3347883" cy="369332"/>
          </a:xfrm>
          <a:prstGeom prst="roundRect">
            <a:avLst/>
          </a:prstGeom>
          <a:solidFill>
            <a:schemeClr val="bg1">
              <a:lumMod val="75000"/>
            </a:schemeClr>
          </a:solidFill>
          <a:ln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Force Composition Recognition</a:t>
            </a:r>
            <a:endParaRPr lang="en-IN" b="1" dirty="0">
              <a:solidFill>
                <a:schemeClr val="tx1"/>
              </a:solidFill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67D9C6FD-2759-F937-480D-9DAEC22426DC}"/>
              </a:ext>
            </a:extLst>
          </p:cNvPr>
          <p:cNvSpPr/>
          <p:nvPr/>
        </p:nvSpPr>
        <p:spPr>
          <a:xfrm>
            <a:off x="3222790" y="4787490"/>
            <a:ext cx="3364474" cy="369332"/>
          </a:xfrm>
          <a:prstGeom prst="roundRect">
            <a:avLst/>
          </a:prstGeom>
          <a:solidFill>
            <a:schemeClr val="bg1">
              <a:lumMod val="75000"/>
            </a:schemeClr>
          </a:solidFill>
          <a:ln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Environmental Factor Extraction</a:t>
            </a:r>
            <a:endParaRPr lang="en-IN" b="1" dirty="0">
              <a:solidFill>
                <a:schemeClr val="tx1"/>
              </a:solidFill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43769AAE-8C81-0096-15E9-711035913F3F}"/>
              </a:ext>
            </a:extLst>
          </p:cNvPr>
          <p:cNvSpPr/>
          <p:nvPr/>
        </p:nvSpPr>
        <p:spPr>
          <a:xfrm>
            <a:off x="3230592" y="5852866"/>
            <a:ext cx="3347883" cy="369332"/>
          </a:xfrm>
          <a:prstGeom prst="roundRect">
            <a:avLst/>
          </a:prstGeom>
          <a:solidFill>
            <a:schemeClr val="bg1">
              <a:lumMod val="75000"/>
            </a:schemeClr>
          </a:solidFill>
          <a:ln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Historical Data Summarization</a:t>
            </a:r>
            <a:endParaRPr lang="en-IN" b="1" dirty="0">
              <a:solidFill>
                <a:schemeClr val="tx1"/>
              </a:solidFill>
            </a:endParaRPr>
          </a:p>
        </p:txBody>
      </p:sp>
      <p:cxnSp>
        <p:nvCxnSpPr>
          <p:cNvPr id="18" name="Connector: Elbow 17">
            <a:extLst>
              <a:ext uri="{FF2B5EF4-FFF2-40B4-BE49-F238E27FC236}">
                <a16:creationId xmlns:a16="http://schemas.microsoft.com/office/drawing/2014/main" id="{89123EFB-D932-7E23-496C-E8B0D74EA984}"/>
              </a:ext>
            </a:extLst>
          </p:cNvPr>
          <p:cNvCxnSpPr>
            <a:cxnSpLocks/>
            <a:stCxn id="8" idx="1"/>
            <a:endCxn id="11" idx="1"/>
          </p:cNvCxnSpPr>
          <p:nvPr/>
        </p:nvCxnSpPr>
        <p:spPr>
          <a:xfrm rot="10800000" flipH="1" flipV="1">
            <a:off x="2922026" y="1601132"/>
            <a:ext cx="300764" cy="1065049"/>
          </a:xfrm>
          <a:prstGeom prst="bentConnector3">
            <a:avLst>
              <a:gd name="adj1" fmla="val -76006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Connector: Elbow 19">
            <a:extLst>
              <a:ext uri="{FF2B5EF4-FFF2-40B4-BE49-F238E27FC236}">
                <a16:creationId xmlns:a16="http://schemas.microsoft.com/office/drawing/2014/main" id="{94F0712A-7BA9-934F-313E-737DB2C99B2F}"/>
              </a:ext>
            </a:extLst>
          </p:cNvPr>
          <p:cNvCxnSpPr>
            <a:cxnSpLocks/>
            <a:stCxn id="8" idx="1"/>
            <a:endCxn id="12" idx="1"/>
          </p:cNvCxnSpPr>
          <p:nvPr/>
        </p:nvCxnSpPr>
        <p:spPr>
          <a:xfrm rot="10800000" flipH="1" flipV="1">
            <a:off x="2922026" y="1601133"/>
            <a:ext cx="308566" cy="2184882"/>
          </a:xfrm>
          <a:prstGeom prst="bentConnector3">
            <a:avLst>
              <a:gd name="adj1" fmla="val -74085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Connector: Elbow 21">
            <a:extLst>
              <a:ext uri="{FF2B5EF4-FFF2-40B4-BE49-F238E27FC236}">
                <a16:creationId xmlns:a16="http://schemas.microsoft.com/office/drawing/2014/main" id="{11E03AEE-E810-B870-3C32-7E11C57257C4}"/>
              </a:ext>
            </a:extLst>
          </p:cNvPr>
          <p:cNvCxnSpPr>
            <a:cxnSpLocks/>
            <a:stCxn id="8" idx="1"/>
            <a:endCxn id="13" idx="1"/>
          </p:cNvCxnSpPr>
          <p:nvPr/>
        </p:nvCxnSpPr>
        <p:spPr>
          <a:xfrm rot="10800000" flipH="1" flipV="1">
            <a:off x="2922026" y="1601132"/>
            <a:ext cx="300764" cy="3371023"/>
          </a:xfrm>
          <a:prstGeom prst="bentConnector3">
            <a:avLst>
              <a:gd name="adj1" fmla="val -76006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Connector: Elbow 23">
            <a:extLst>
              <a:ext uri="{FF2B5EF4-FFF2-40B4-BE49-F238E27FC236}">
                <a16:creationId xmlns:a16="http://schemas.microsoft.com/office/drawing/2014/main" id="{631229B6-64AC-12E2-6B59-25FF76035BC7}"/>
              </a:ext>
            </a:extLst>
          </p:cNvPr>
          <p:cNvCxnSpPr>
            <a:cxnSpLocks/>
            <a:stCxn id="8" idx="1"/>
            <a:endCxn id="14" idx="1"/>
          </p:cNvCxnSpPr>
          <p:nvPr/>
        </p:nvCxnSpPr>
        <p:spPr>
          <a:xfrm rot="10800000" flipH="1" flipV="1">
            <a:off x="2922026" y="1601132"/>
            <a:ext cx="308566" cy="4436399"/>
          </a:xfrm>
          <a:prstGeom prst="bentConnector3">
            <a:avLst>
              <a:gd name="adj1" fmla="val -74085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99145F34-BC10-24C4-09EC-4A8324D28364}"/>
              </a:ext>
            </a:extLst>
          </p:cNvPr>
          <p:cNvSpPr/>
          <p:nvPr/>
        </p:nvSpPr>
        <p:spPr>
          <a:xfrm>
            <a:off x="7819274" y="1401097"/>
            <a:ext cx="2711074" cy="369332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  <a:prstDash val="solid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Extracted Information</a:t>
            </a:r>
            <a:endParaRPr lang="en-IN" b="1" dirty="0"/>
          </a:p>
        </p:txBody>
      </p:sp>
      <p:cxnSp>
        <p:nvCxnSpPr>
          <p:cNvPr id="27" name="Connector: Elbow 26">
            <a:extLst>
              <a:ext uri="{FF2B5EF4-FFF2-40B4-BE49-F238E27FC236}">
                <a16:creationId xmlns:a16="http://schemas.microsoft.com/office/drawing/2014/main" id="{8F7666A9-2C3B-6FEA-5DA0-D853D622F7A8}"/>
              </a:ext>
            </a:extLst>
          </p:cNvPr>
          <p:cNvCxnSpPr>
            <a:cxnSpLocks/>
            <a:stCxn id="2" idx="3"/>
            <a:endCxn id="25" idx="0"/>
          </p:cNvCxnSpPr>
          <p:nvPr/>
        </p:nvCxnSpPr>
        <p:spPr>
          <a:xfrm>
            <a:off x="8465690" y="693075"/>
            <a:ext cx="709121" cy="708022"/>
          </a:xfrm>
          <a:prstGeom prst="bentConnector2">
            <a:avLst/>
          </a:prstGeom>
          <a:ln w="57150">
            <a:solidFill>
              <a:schemeClr val="bg2">
                <a:lumMod val="75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6E280E64-71C4-A9B2-E705-81B6F9BEB800}"/>
              </a:ext>
            </a:extLst>
          </p:cNvPr>
          <p:cNvSpPr/>
          <p:nvPr/>
        </p:nvSpPr>
        <p:spPr>
          <a:xfrm>
            <a:off x="7819274" y="2481516"/>
            <a:ext cx="2895428" cy="369332"/>
          </a:xfrm>
          <a:prstGeom prst="roundRect">
            <a:avLst/>
          </a:prstGeom>
          <a:solidFill>
            <a:schemeClr val="bg1">
              <a:lumMod val="75000"/>
            </a:schemeClr>
          </a:solidFill>
          <a:ln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Threats</a:t>
            </a:r>
            <a:endParaRPr lang="en-IN" b="1" dirty="0">
              <a:solidFill>
                <a:schemeClr val="tx1"/>
              </a:solidFill>
            </a:endParaRPr>
          </a:p>
        </p:txBody>
      </p:sp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F61C6F6A-A7F3-C020-36A6-160F4F6837A5}"/>
              </a:ext>
            </a:extLst>
          </p:cNvPr>
          <p:cNvSpPr/>
          <p:nvPr/>
        </p:nvSpPr>
        <p:spPr>
          <a:xfrm>
            <a:off x="7819273" y="3601326"/>
            <a:ext cx="2895428" cy="369332"/>
          </a:xfrm>
          <a:prstGeom prst="roundRect">
            <a:avLst/>
          </a:prstGeom>
          <a:solidFill>
            <a:schemeClr val="bg1">
              <a:lumMod val="75000"/>
            </a:schemeClr>
          </a:solidFill>
          <a:ln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Force Structures</a:t>
            </a:r>
            <a:endParaRPr lang="en-IN" b="1" dirty="0">
              <a:solidFill>
                <a:schemeClr val="tx1"/>
              </a:solidFill>
            </a:endParaRPr>
          </a:p>
        </p:txBody>
      </p:sp>
      <p:sp>
        <p:nvSpPr>
          <p:cNvPr id="47" name="Rectangle: Rounded Corners 46">
            <a:extLst>
              <a:ext uri="{FF2B5EF4-FFF2-40B4-BE49-F238E27FC236}">
                <a16:creationId xmlns:a16="http://schemas.microsoft.com/office/drawing/2014/main" id="{713E085D-3730-761B-183B-BCEEA00C36A3}"/>
              </a:ext>
            </a:extLst>
          </p:cNvPr>
          <p:cNvSpPr/>
          <p:nvPr/>
        </p:nvSpPr>
        <p:spPr>
          <a:xfrm>
            <a:off x="7819272" y="4784072"/>
            <a:ext cx="2895428" cy="369332"/>
          </a:xfrm>
          <a:prstGeom prst="roundRect">
            <a:avLst/>
          </a:prstGeom>
          <a:solidFill>
            <a:schemeClr val="bg1">
              <a:lumMod val="75000"/>
            </a:schemeClr>
          </a:solidFill>
          <a:ln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Environmental Factors</a:t>
            </a:r>
            <a:endParaRPr lang="en-IN" b="1" dirty="0">
              <a:solidFill>
                <a:schemeClr val="tx1"/>
              </a:solidFill>
            </a:endParaRPr>
          </a:p>
        </p:txBody>
      </p: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D609562E-C860-303D-720A-E4C06D313A2A}"/>
              </a:ext>
            </a:extLst>
          </p:cNvPr>
          <p:cNvSpPr/>
          <p:nvPr/>
        </p:nvSpPr>
        <p:spPr>
          <a:xfrm>
            <a:off x="7819272" y="5852866"/>
            <a:ext cx="2895428" cy="369332"/>
          </a:xfrm>
          <a:prstGeom prst="roundRect">
            <a:avLst/>
          </a:prstGeom>
          <a:solidFill>
            <a:schemeClr val="bg1">
              <a:lumMod val="75000"/>
            </a:schemeClr>
          </a:solidFill>
          <a:ln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Historical Insights</a:t>
            </a:r>
            <a:endParaRPr lang="en-IN" b="1" dirty="0">
              <a:solidFill>
                <a:schemeClr val="tx1"/>
              </a:solidFill>
            </a:endParaRPr>
          </a:p>
        </p:txBody>
      </p:sp>
      <p:cxnSp>
        <p:nvCxnSpPr>
          <p:cNvPr id="50" name="Connector: Elbow 49">
            <a:extLst>
              <a:ext uri="{FF2B5EF4-FFF2-40B4-BE49-F238E27FC236}">
                <a16:creationId xmlns:a16="http://schemas.microsoft.com/office/drawing/2014/main" id="{3FBA169C-4BEC-9218-90DE-7BCCC01738AD}"/>
              </a:ext>
            </a:extLst>
          </p:cNvPr>
          <p:cNvCxnSpPr>
            <a:cxnSpLocks/>
            <a:stCxn id="25" idx="3"/>
            <a:endCxn id="45" idx="3"/>
          </p:cNvCxnSpPr>
          <p:nvPr/>
        </p:nvCxnSpPr>
        <p:spPr>
          <a:xfrm>
            <a:off x="10530348" y="1585763"/>
            <a:ext cx="184354" cy="1080419"/>
          </a:xfrm>
          <a:prstGeom prst="bentConnector3">
            <a:avLst>
              <a:gd name="adj1" fmla="val 224001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2" name="Connector: Elbow 51">
            <a:extLst>
              <a:ext uri="{FF2B5EF4-FFF2-40B4-BE49-F238E27FC236}">
                <a16:creationId xmlns:a16="http://schemas.microsoft.com/office/drawing/2014/main" id="{343E571B-B0C5-1081-25E8-8CD2931EB8E2}"/>
              </a:ext>
            </a:extLst>
          </p:cNvPr>
          <p:cNvCxnSpPr>
            <a:cxnSpLocks/>
            <a:stCxn id="25" idx="3"/>
            <a:endCxn id="46" idx="3"/>
          </p:cNvCxnSpPr>
          <p:nvPr/>
        </p:nvCxnSpPr>
        <p:spPr>
          <a:xfrm>
            <a:off x="10530348" y="1585763"/>
            <a:ext cx="184353" cy="2200229"/>
          </a:xfrm>
          <a:prstGeom prst="bentConnector3">
            <a:avLst>
              <a:gd name="adj1" fmla="val 224001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4" name="Connector: Elbow 53">
            <a:extLst>
              <a:ext uri="{FF2B5EF4-FFF2-40B4-BE49-F238E27FC236}">
                <a16:creationId xmlns:a16="http://schemas.microsoft.com/office/drawing/2014/main" id="{80B47C31-A44F-5B8D-5596-576F6E78B236}"/>
              </a:ext>
            </a:extLst>
          </p:cNvPr>
          <p:cNvCxnSpPr>
            <a:cxnSpLocks/>
            <a:stCxn id="25" idx="3"/>
            <a:endCxn id="47" idx="3"/>
          </p:cNvCxnSpPr>
          <p:nvPr/>
        </p:nvCxnSpPr>
        <p:spPr>
          <a:xfrm>
            <a:off x="10530348" y="1585763"/>
            <a:ext cx="184352" cy="3382975"/>
          </a:xfrm>
          <a:prstGeom prst="bentConnector3">
            <a:avLst>
              <a:gd name="adj1" fmla="val 224002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6" name="Connector: Elbow 55">
            <a:extLst>
              <a:ext uri="{FF2B5EF4-FFF2-40B4-BE49-F238E27FC236}">
                <a16:creationId xmlns:a16="http://schemas.microsoft.com/office/drawing/2014/main" id="{EDC72754-6633-6FEB-7760-941E8E9796B6}"/>
              </a:ext>
            </a:extLst>
          </p:cNvPr>
          <p:cNvCxnSpPr>
            <a:cxnSpLocks/>
            <a:stCxn id="25" idx="3"/>
            <a:endCxn id="48" idx="3"/>
          </p:cNvCxnSpPr>
          <p:nvPr/>
        </p:nvCxnSpPr>
        <p:spPr>
          <a:xfrm>
            <a:off x="10530348" y="1585763"/>
            <a:ext cx="184352" cy="4451769"/>
          </a:xfrm>
          <a:prstGeom prst="bentConnector3">
            <a:avLst>
              <a:gd name="adj1" fmla="val 224002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8" name="Connector: Elbow 57">
            <a:extLst>
              <a:ext uri="{FF2B5EF4-FFF2-40B4-BE49-F238E27FC236}">
                <a16:creationId xmlns:a16="http://schemas.microsoft.com/office/drawing/2014/main" id="{40BC0F99-FF4A-A191-9DEA-354A6F49096E}"/>
              </a:ext>
            </a:extLst>
          </p:cNvPr>
          <p:cNvCxnSpPr>
            <a:cxnSpLocks/>
            <a:stCxn id="8" idx="1"/>
            <a:endCxn id="14" idx="1"/>
          </p:cNvCxnSpPr>
          <p:nvPr/>
        </p:nvCxnSpPr>
        <p:spPr>
          <a:xfrm rot="10800000" flipH="1" flipV="1">
            <a:off x="2922026" y="1601132"/>
            <a:ext cx="308566" cy="4436399"/>
          </a:xfrm>
          <a:prstGeom prst="bentConnector3">
            <a:avLst>
              <a:gd name="adj1" fmla="val -74085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64" name="Picture 63">
            <a:extLst>
              <a:ext uri="{FF2B5EF4-FFF2-40B4-BE49-F238E27FC236}">
                <a16:creationId xmlns:a16="http://schemas.microsoft.com/office/drawing/2014/main" id="{3AF88C26-0127-5CE3-F845-A447EDA3BE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45626" y="2889448"/>
            <a:ext cx="734405" cy="734405"/>
          </a:xfrm>
          <a:prstGeom prst="rect">
            <a:avLst/>
          </a:prstGeom>
        </p:spPr>
      </p:pic>
      <p:pic>
        <p:nvPicPr>
          <p:cNvPr id="66" name="Picture 65">
            <a:extLst>
              <a:ext uri="{FF2B5EF4-FFF2-40B4-BE49-F238E27FC236}">
                <a16:creationId xmlns:a16="http://schemas.microsoft.com/office/drawing/2014/main" id="{B74D8116-F803-FFC1-5ABC-9F75A27FCDB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64275" y="1838568"/>
            <a:ext cx="880519" cy="627324"/>
          </a:xfrm>
          <a:prstGeom prst="rect">
            <a:avLst/>
          </a:prstGeom>
        </p:spPr>
      </p:pic>
      <p:pic>
        <p:nvPicPr>
          <p:cNvPr id="68" name="Picture 67">
            <a:extLst>
              <a:ext uri="{FF2B5EF4-FFF2-40B4-BE49-F238E27FC236}">
                <a16:creationId xmlns:a16="http://schemas.microsoft.com/office/drawing/2014/main" id="{544EA9C4-C36A-6EBC-7FF2-3F213B680F9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64275" y="5114819"/>
            <a:ext cx="797039" cy="797039"/>
          </a:xfrm>
          <a:prstGeom prst="rect">
            <a:avLst/>
          </a:prstGeom>
        </p:spPr>
      </p:pic>
      <p:pic>
        <p:nvPicPr>
          <p:cNvPr id="70" name="Picture 69">
            <a:extLst>
              <a:ext uri="{FF2B5EF4-FFF2-40B4-BE49-F238E27FC236}">
                <a16:creationId xmlns:a16="http://schemas.microsoft.com/office/drawing/2014/main" id="{3147D438-C953-06BB-4592-EF5B2AB17A1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524" y="4086379"/>
            <a:ext cx="664018" cy="664018"/>
          </a:xfrm>
          <a:prstGeom prst="rect">
            <a:avLst/>
          </a:prstGeom>
        </p:spPr>
      </p:pic>
      <p:pic>
        <p:nvPicPr>
          <p:cNvPr id="98" name="Picture 97">
            <a:extLst>
              <a:ext uri="{FF2B5EF4-FFF2-40B4-BE49-F238E27FC236}">
                <a16:creationId xmlns:a16="http://schemas.microsoft.com/office/drawing/2014/main" id="{427F515E-F38D-8CA2-691A-7C936295476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35959" y="4111532"/>
            <a:ext cx="609604" cy="609604"/>
          </a:xfrm>
          <a:prstGeom prst="rect">
            <a:avLst/>
          </a:prstGeom>
        </p:spPr>
      </p:pic>
      <p:pic>
        <p:nvPicPr>
          <p:cNvPr id="104" name="Picture 103">
            <a:extLst>
              <a:ext uri="{FF2B5EF4-FFF2-40B4-BE49-F238E27FC236}">
                <a16:creationId xmlns:a16="http://schemas.microsoft.com/office/drawing/2014/main" id="{F6A7B311-FCBA-C867-6D08-0D48480BCBD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1880" y="1821678"/>
            <a:ext cx="557761" cy="557761"/>
          </a:xfrm>
          <a:prstGeom prst="rect">
            <a:avLst/>
          </a:prstGeom>
        </p:spPr>
      </p:pic>
      <p:pic>
        <p:nvPicPr>
          <p:cNvPr id="106" name="Picture 105">
            <a:extLst>
              <a:ext uri="{FF2B5EF4-FFF2-40B4-BE49-F238E27FC236}">
                <a16:creationId xmlns:a16="http://schemas.microsoft.com/office/drawing/2014/main" id="{AC16DD86-A22E-7240-972E-08A9E35FE94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29134" y="2913784"/>
            <a:ext cx="623254" cy="623254"/>
          </a:xfrm>
          <a:prstGeom prst="rect">
            <a:avLst/>
          </a:prstGeom>
        </p:spPr>
      </p:pic>
      <p:pic>
        <p:nvPicPr>
          <p:cNvPr id="108" name="Picture 107">
            <a:extLst>
              <a:ext uri="{FF2B5EF4-FFF2-40B4-BE49-F238E27FC236}">
                <a16:creationId xmlns:a16="http://schemas.microsoft.com/office/drawing/2014/main" id="{441E3DB5-0DC9-266D-1C06-5B81B7AE2CFF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29134" y="5158014"/>
            <a:ext cx="694852" cy="694852"/>
          </a:xfrm>
          <a:prstGeom prst="rect">
            <a:avLst/>
          </a:prstGeom>
        </p:spPr>
      </p:pic>
      <p:sp>
        <p:nvSpPr>
          <p:cNvPr id="109" name="Rectangle: Rounded Corners 108">
            <a:extLst>
              <a:ext uri="{FF2B5EF4-FFF2-40B4-BE49-F238E27FC236}">
                <a16:creationId xmlns:a16="http://schemas.microsoft.com/office/drawing/2014/main" id="{2699D057-BA01-0B30-FFDA-0F3921324429}"/>
              </a:ext>
            </a:extLst>
          </p:cNvPr>
          <p:cNvSpPr/>
          <p:nvPr/>
        </p:nvSpPr>
        <p:spPr>
          <a:xfrm>
            <a:off x="5066273" y="1004453"/>
            <a:ext cx="2711074" cy="1083789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i="1" dirty="0">
                <a:solidFill>
                  <a:schemeClr val="tx1"/>
                </a:solidFill>
              </a:rPr>
              <a:t>Structured outputs can support strategic </a:t>
            </a:r>
            <a:r>
              <a:rPr lang="en-US" sz="1600" b="1" i="1" dirty="0">
                <a:solidFill>
                  <a:schemeClr val="tx1"/>
                </a:solidFill>
              </a:rPr>
              <a:t>decision-making</a:t>
            </a:r>
            <a:r>
              <a:rPr lang="en-US" sz="1600" i="1" dirty="0">
                <a:solidFill>
                  <a:schemeClr val="tx1"/>
                </a:solidFill>
              </a:rPr>
              <a:t>, </a:t>
            </a:r>
            <a:r>
              <a:rPr lang="en-US" sz="1600" b="1" i="1" dirty="0">
                <a:solidFill>
                  <a:schemeClr val="tx1"/>
                </a:solidFill>
              </a:rPr>
              <a:t>simulations</a:t>
            </a:r>
            <a:r>
              <a:rPr lang="en-US" sz="1600" i="1" dirty="0">
                <a:solidFill>
                  <a:schemeClr val="tx1"/>
                </a:solidFill>
              </a:rPr>
              <a:t>, and </a:t>
            </a:r>
            <a:r>
              <a:rPr lang="en-US" sz="1600" b="1" i="1" dirty="0">
                <a:solidFill>
                  <a:schemeClr val="tx1"/>
                </a:solidFill>
              </a:rPr>
              <a:t>operational planning</a:t>
            </a:r>
            <a:r>
              <a:rPr lang="en-US" sz="1600" i="1" dirty="0">
                <a:solidFill>
                  <a:schemeClr val="tx1"/>
                </a:solidFill>
              </a:rPr>
              <a:t>.</a:t>
            </a:r>
            <a:endParaRPr lang="en-IN" sz="1600" i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867513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5C0714-2FC9-9674-67C7-5A3BC02363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val 5">
            <a:extLst>
              <a:ext uri="{FF2B5EF4-FFF2-40B4-BE49-F238E27FC236}">
                <a16:creationId xmlns:a16="http://schemas.microsoft.com/office/drawing/2014/main" id="{A07E14F0-919D-7FAE-3D83-D98B5F9F33BF}"/>
              </a:ext>
            </a:extLst>
          </p:cNvPr>
          <p:cNvSpPr/>
          <p:nvPr/>
        </p:nvSpPr>
        <p:spPr>
          <a:xfrm>
            <a:off x="2180854" y="2562686"/>
            <a:ext cx="1791931" cy="1732626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T-90 Tank</a:t>
            </a:r>
          </a:p>
          <a:p>
            <a:pPr algn="ctr"/>
            <a:r>
              <a:rPr lang="en-US" b="1" dirty="0">
                <a:solidFill>
                  <a:schemeClr val="tx1"/>
                </a:solidFill>
              </a:rPr>
              <a:t>(Military Assets)</a:t>
            </a:r>
            <a:endParaRPr lang="en-IN" b="1" dirty="0">
              <a:solidFill>
                <a:schemeClr val="tx1"/>
              </a:solidFill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22371D4C-9018-FEBD-6EE5-DCB3B764430F}"/>
              </a:ext>
            </a:extLst>
          </p:cNvPr>
          <p:cNvSpPr/>
          <p:nvPr/>
        </p:nvSpPr>
        <p:spPr>
          <a:xfrm>
            <a:off x="5134280" y="616832"/>
            <a:ext cx="1923437" cy="1732626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Border Region</a:t>
            </a:r>
          </a:p>
          <a:p>
            <a:pPr algn="ctr"/>
            <a:r>
              <a:rPr lang="en-US" b="1" dirty="0">
                <a:solidFill>
                  <a:schemeClr val="tx1"/>
                </a:solidFill>
              </a:rPr>
              <a:t>(Location)</a:t>
            </a:r>
            <a:endParaRPr lang="en-IN" b="1" dirty="0">
              <a:solidFill>
                <a:schemeClr val="tx1"/>
              </a:solidFill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CFFA6AE7-FB05-7C82-318F-E35AB311C6AF}"/>
              </a:ext>
            </a:extLst>
          </p:cNvPr>
          <p:cNvSpPr/>
          <p:nvPr/>
        </p:nvSpPr>
        <p:spPr>
          <a:xfrm>
            <a:off x="5134280" y="4508542"/>
            <a:ext cx="1923437" cy="1732626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Enemy </a:t>
            </a:r>
          </a:p>
          <a:p>
            <a:pPr algn="ctr"/>
            <a:r>
              <a:rPr lang="en-US" b="1" dirty="0">
                <a:solidFill>
                  <a:schemeClr val="tx1"/>
                </a:solidFill>
              </a:rPr>
              <a:t>Base B </a:t>
            </a:r>
          </a:p>
          <a:p>
            <a:pPr algn="ctr"/>
            <a:r>
              <a:rPr lang="en-US" b="1" dirty="0">
                <a:solidFill>
                  <a:schemeClr val="tx1"/>
                </a:solidFill>
              </a:rPr>
              <a:t>(Target)</a:t>
            </a:r>
            <a:endParaRPr lang="en-IN" b="1" dirty="0">
              <a:solidFill>
                <a:schemeClr val="tx1"/>
              </a:solidFill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BBAF77F-F4D4-6636-1E4B-9587AC647E2C}"/>
              </a:ext>
            </a:extLst>
          </p:cNvPr>
          <p:cNvSpPr/>
          <p:nvPr/>
        </p:nvSpPr>
        <p:spPr>
          <a:xfrm>
            <a:off x="8087710" y="2562686"/>
            <a:ext cx="1923436" cy="1732626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Artillery Unit A </a:t>
            </a:r>
          </a:p>
          <a:p>
            <a:pPr algn="ctr"/>
            <a:r>
              <a:rPr lang="en-US" b="1" dirty="0">
                <a:solidFill>
                  <a:schemeClr val="tx1"/>
                </a:solidFill>
              </a:rPr>
              <a:t>(Unit)</a:t>
            </a:r>
            <a:endParaRPr lang="en-IN" b="1" dirty="0">
              <a:solidFill>
                <a:schemeClr val="tx1"/>
              </a:solidFill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6B6F3A8-F23D-3C9E-1A2A-0E5E7BF460C7}"/>
              </a:ext>
            </a:extLst>
          </p:cNvPr>
          <p:cNvSpPr txBox="1"/>
          <p:nvPr/>
        </p:nvSpPr>
        <p:spPr>
          <a:xfrm rot="19036523">
            <a:off x="3596776" y="1838249"/>
            <a:ext cx="14785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Deployed to</a:t>
            </a:r>
            <a:endParaRPr lang="en-IN" b="1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F4DDE88B-174C-71B7-2C30-449F0614F2C2}"/>
              </a:ext>
            </a:extLst>
          </p:cNvPr>
          <p:cNvSpPr txBox="1"/>
          <p:nvPr/>
        </p:nvSpPr>
        <p:spPr>
          <a:xfrm rot="18966012">
            <a:off x="7236077" y="4292074"/>
            <a:ext cx="9549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Targets</a:t>
            </a:r>
            <a:endParaRPr lang="en-IN" b="1" dirty="0"/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5EAB81B0-0F86-2180-E08D-F2CBAB75791C}"/>
              </a:ext>
            </a:extLst>
          </p:cNvPr>
          <p:cNvCxnSpPr>
            <a:stCxn id="6" idx="7"/>
            <a:endCxn id="8" idx="2"/>
          </p:cNvCxnSpPr>
          <p:nvPr/>
        </p:nvCxnSpPr>
        <p:spPr>
          <a:xfrm flipV="1">
            <a:off x="3710363" y="1483145"/>
            <a:ext cx="1423917" cy="133327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13036CE0-10E0-1703-B2C5-AA78D01B2D98}"/>
              </a:ext>
            </a:extLst>
          </p:cNvPr>
          <p:cNvCxnSpPr>
            <a:stCxn id="12" idx="3"/>
            <a:endCxn id="10" idx="6"/>
          </p:cNvCxnSpPr>
          <p:nvPr/>
        </p:nvCxnSpPr>
        <p:spPr>
          <a:xfrm flipH="1">
            <a:off x="7057717" y="4041575"/>
            <a:ext cx="1311674" cy="133328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A9459F76-3DB2-A716-B80F-20904004E010}"/>
              </a:ext>
            </a:extLst>
          </p:cNvPr>
          <p:cNvCxnSpPr>
            <a:stCxn id="8" idx="6"/>
            <a:endCxn id="12" idx="1"/>
          </p:cNvCxnSpPr>
          <p:nvPr/>
        </p:nvCxnSpPr>
        <p:spPr>
          <a:xfrm>
            <a:off x="7057717" y="1483145"/>
            <a:ext cx="1311674" cy="133327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5" name="TextBox 54">
            <a:extLst>
              <a:ext uri="{FF2B5EF4-FFF2-40B4-BE49-F238E27FC236}">
                <a16:creationId xmlns:a16="http://schemas.microsoft.com/office/drawing/2014/main" id="{CDFFEC95-3FF5-BFE2-D028-E94F31F405F2}"/>
              </a:ext>
            </a:extLst>
          </p:cNvPr>
          <p:cNvSpPr txBox="1"/>
          <p:nvPr/>
        </p:nvSpPr>
        <p:spPr>
          <a:xfrm rot="2719654">
            <a:off x="7371172" y="1921109"/>
            <a:ext cx="11733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Located at</a:t>
            </a:r>
            <a:endParaRPr lang="en-IN" b="1" dirty="0"/>
          </a:p>
        </p:txBody>
      </p: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06925E30-F20F-8F46-9EEF-720CD1C0E96F}"/>
              </a:ext>
            </a:extLst>
          </p:cNvPr>
          <p:cNvCxnSpPr>
            <a:stCxn id="6" idx="6"/>
            <a:endCxn id="12" idx="2"/>
          </p:cNvCxnSpPr>
          <p:nvPr/>
        </p:nvCxnSpPr>
        <p:spPr>
          <a:xfrm>
            <a:off x="3972785" y="3428999"/>
            <a:ext cx="4114925" cy="0"/>
          </a:xfrm>
          <a:prstGeom prst="straightConnector1">
            <a:avLst/>
          </a:prstGeom>
          <a:ln>
            <a:prstDash val="dashDot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8" name="TextBox 57">
            <a:extLst>
              <a:ext uri="{FF2B5EF4-FFF2-40B4-BE49-F238E27FC236}">
                <a16:creationId xmlns:a16="http://schemas.microsoft.com/office/drawing/2014/main" id="{2D255BC8-C532-1EED-7665-6F0D4CF70149}"/>
              </a:ext>
            </a:extLst>
          </p:cNvPr>
          <p:cNvSpPr txBox="1"/>
          <p:nvPr/>
        </p:nvSpPr>
        <p:spPr>
          <a:xfrm>
            <a:off x="5480869" y="3010850"/>
            <a:ext cx="10987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Supports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2497149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A8E2A1-55D1-6835-C532-074C849E39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CCB24F1B-9AA4-FF0C-1644-7FB18F617B63}"/>
              </a:ext>
            </a:extLst>
          </p:cNvPr>
          <p:cNvSpPr/>
          <p:nvPr/>
        </p:nvSpPr>
        <p:spPr>
          <a:xfrm>
            <a:off x="4173794" y="914400"/>
            <a:ext cx="3731341" cy="604684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tx1"/>
                </a:solidFill>
              </a:rPr>
              <a:t>Offensive Operations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EC7D4785-5445-C733-71CF-4CE40E2A2707}"/>
              </a:ext>
            </a:extLst>
          </p:cNvPr>
          <p:cNvGrpSpPr/>
          <p:nvPr/>
        </p:nvGrpSpPr>
        <p:grpSpPr>
          <a:xfrm>
            <a:off x="855410" y="2600634"/>
            <a:ext cx="10481179" cy="540774"/>
            <a:chOff x="226144" y="2585885"/>
            <a:chExt cx="10481179" cy="540774"/>
          </a:xfrm>
          <a:solidFill>
            <a:schemeClr val="bg1">
              <a:lumMod val="65000"/>
            </a:schemeClr>
          </a:solidFill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307F8060-2E36-953B-7493-513D1FD7735F}"/>
                </a:ext>
              </a:extLst>
            </p:cNvPr>
            <p:cNvSpPr/>
            <p:nvPr/>
          </p:nvSpPr>
          <p:spPr>
            <a:xfrm>
              <a:off x="226144" y="2585885"/>
              <a:ext cx="2266333" cy="540774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</a:rPr>
                <a:t>Air Support</a:t>
              </a:r>
              <a:endParaRPr lang="en-IN" b="1" dirty="0">
                <a:solidFill>
                  <a:schemeClr val="tx1"/>
                </a:solidFill>
              </a:endParaRPr>
            </a:p>
          </p:txBody>
        </p:sp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B5A735E5-A644-A68E-E0D0-4CAD419659A0}"/>
                </a:ext>
              </a:extLst>
            </p:cNvPr>
            <p:cNvSpPr/>
            <p:nvPr/>
          </p:nvSpPr>
          <p:spPr>
            <a:xfrm>
              <a:off x="2964426" y="2585885"/>
              <a:ext cx="2266333" cy="540774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</a:rPr>
                <a:t>    Ground Assault</a:t>
              </a:r>
              <a:endParaRPr lang="en-IN" b="1" dirty="0">
                <a:solidFill>
                  <a:schemeClr val="tx1"/>
                </a:solidFill>
              </a:endParaRPr>
            </a:p>
          </p:txBody>
        </p:sp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CA108790-2790-495A-613E-EA78E5D3E5CB}"/>
                </a:ext>
              </a:extLst>
            </p:cNvPr>
            <p:cNvSpPr/>
            <p:nvPr/>
          </p:nvSpPr>
          <p:spPr>
            <a:xfrm>
              <a:off x="5702708" y="2585885"/>
              <a:ext cx="2266333" cy="540774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</a:rPr>
                <a:t>   Target Selection</a:t>
              </a:r>
              <a:endParaRPr lang="en-IN" b="1" dirty="0">
                <a:solidFill>
                  <a:schemeClr val="tx1"/>
                </a:solidFill>
              </a:endParaRPr>
            </a:p>
          </p:txBody>
        </p:sp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DF7E7DD4-6453-2920-928B-872C546F4E4E}"/>
                </a:ext>
              </a:extLst>
            </p:cNvPr>
            <p:cNvSpPr/>
            <p:nvPr/>
          </p:nvSpPr>
          <p:spPr>
            <a:xfrm>
              <a:off x="8440990" y="2585885"/>
              <a:ext cx="2266333" cy="540774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</a:rPr>
                <a:t>     Electronic Warfare</a:t>
              </a:r>
              <a:endParaRPr lang="en-IN" b="1" dirty="0">
                <a:solidFill>
                  <a:schemeClr val="tx1"/>
                </a:solidFill>
              </a:endParaRPr>
            </a:p>
          </p:txBody>
        </p:sp>
      </p:grp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974C792F-248F-306D-F475-CEAE6D19F8B1}"/>
              </a:ext>
            </a:extLst>
          </p:cNvPr>
          <p:cNvCxnSpPr>
            <a:stCxn id="2" idx="2"/>
          </p:cNvCxnSpPr>
          <p:nvPr/>
        </p:nvCxnSpPr>
        <p:spPr>
          <a:xfrm flipH="1">
            <a:off x="6039464" y="1519084"/>
            <a:ext cx="1" cy="47194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8385C5D-0313-EF8D-06E6-EDFCA556DD45}"/>
              </a:ext>
            </a:extLst>
          </p:cNvPr>
          <p:cNvCxnSpPr>
            <a:cxnSpLocks/>
          </p:cNvCxnSpPr>
          <p:nvPr/>
        </p:nvCxnSpPr>
        <p:spPr>
          <a:xfrm flipH="1">
            <a:off x="1988576" y="1991032"/>
            <a:ext cx="4050888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D7458A1F-B824-389E-BC37-8188A5C0CA62}"/>
              </a:ext>
            </a:extLst>
          </p:cNvPr>
          <p:cNvCxnSpPr>
            <a:endCxn id="3" idx="0"/>
          </p:cNvCxnSpPr>
          <p:nvPr/>
        </p:nvCxnSpPr>
        <p:spPr>
          <a:xfrm>
            <a:off x="1988576" y="1991032"/>
            <a:ext cx="1" cy="60960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E6E47D5C-9C7F-81EE-1E14-E8FC51170D96}"/>
              </a:ext>
            </a:extLst>
          </p:cNvPr>
          <p:cNvCxnSpPr>
            <a:cxnSpLocks/>
          </p:cNvCxnSpPr>
          <p:nvPr/>
        </p:nvCxnSpPr>
        <p:spPr>
          <a:xfrm flipH="1">
            <a:off x="6039464" y="1991032"/>
            <a:ext cx="4163958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B4F525DA-99CC-C26E-4EB7-C97042F579E5}"/>
              </a:ext>
            </a:extLst>
          </p:cNvPr>
          <p:cNvCxnSpPr>
            <a:endCxn id="7" idx="0"/>
          </p:cNvCxnSpPr>
          <p:nvPr/>
        </p:nvCxnSpPr>
        <p:spPr>
          <a:xfrm>
            <a:off x="10203422" y="1991032"/>
            <a:ext cx="1" cy="60960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C4341051-CD54-85A7-2383-7C67FB3211F1}"/>
              </a:ext>
            </a:extLst>
          </p:cNvPr>
          <p:cNvCxnSpPr>
            <a:endCxn id="4" idx="0"/>
          </p:cNvCxnSpPr>
          <p:nvPr/>
        </p:nvCxnSpPr>
        <p:spPr>
          <a:xfrm>
            <a:off x="4726858" y="1991032"/>
            <a:ext cx="1" cy="60960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397E69A2-E730-5AC5-EB06-14F8426AA5F9}"/>
              </a:ext>
            </a:extLst>
          </p:cNvPr>
          <p:cNvCxnSpPr>
            <a:endCxn id="5" idx="0"/>
          </p:cNvCxnSpPr>
          <p:nvPr/>
        </p:nvCxnSpPr>
        <p:spPr>
          <a:xfrm>
            <a:off x="7465140" y="1991032"/>
            <a:ext cx="1" cy="60960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42" name="Picture 41">
            <a:extLst>
              <a:ext uri="{FF2B5EF4-FFF2-40B4-BE49-F238E27FC236}">
                <a16:creationId xmlns:a16="http://schemas.microsoft.com/office/drawing/2014/main" id="{A4D64916-4D23-BBF2-ABF1-BD22904D01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1105" y="2695270"/>
            <a:ext cx="351501" cy="351501"/>
          </a:xfrm>
          <a:prstGeom prst="rect">
            <a:avLst/>
          </a:prstGeom>
        </p:spPr>
      </p:pic>
      <p:pic>
        <p:nvPicPr>
          <p:cNvPr id="45" name="Picture 44">
            <a:extLst>
              <a:ext uri="{FF2B5EF4-FFF2-40B4-BE49-F238E27FC236}">
                <a16:creationId xmlns:a16="http://schemas.microsoft.com/office/drawing/2014/main" id="{C1072FD1-5949-5FFC-2646-0753143607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45312" y="2649794"/>
            <a:ext cx="442452" cy="442452"/>
          </a:xfrm>
          <a:prstGeom prst="rect">
            <a:avLst/>
          </a:prstGeom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32F1A3DA-09B9-2068-D4A9-3DCA7B2BDA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92193" y="2695270"/>
            <a:ext cx="353962" cy="353962"/>
          </a:xfrm>
          <a:prstGeom prst="rect">
            <a:avLst/>
          </a:prstGeom>
        </p:spPr>
      </p:pic>
      <p:pic>
        <p:nvPicPr>
          <p:cNvPr id="53" name="Picture 52">
            <a:extLst>
              <a:ext uri="{FF2B5EF4-FFF2-40B4-BE49-F238E27FC236}">
                <a16:creationId xmlns:a16="http://schemas.microsoft.com/office/drawing/2014/main" id="{567FA881-1AF2-4EA5-056D-65C126879C1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52433" y="2649794"/>
            <a:ext cx="430780" cy="430780"/>
          </a:xfrm>
          <a:prstGeom prst="rect">
            <a:avLst/>
          </a:prstGeom>
        </p:spPr>
      </p:pic>
      <p:sp>
        <p:nvSpPr>
          <p:cNvPr id="62" name="Rectangle: Rounded Corners 61">
            <a:extLst>
              <a:ext uri="{FF2B5EF4-FFF2-40B4-BE49-F238E27FC236}">
                <a16:creationId xmlns:a16="http://schemas.microsoft.com/office/drawing/2014/main" id="{3A4892EC-A6A1-AC1F-79AE-70DD141491B1}"/>
              </a:ext>
            </a:extLst>
          </p:cNvPr>
          <p:cNvSpPr/>
          <p:nvPr/>
        </p:nvSpPr>
        <p:spPr>
          <a:xfrm>
            <a:off x="2512145" y="3829664"/>
            <a:ext cx="2266333" cy="540774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Close Air Support</a:t>
            </a:r>
            <a:endParaRPr lang="en-IN" b="1" dirty="0">
              <a:solidFill>
                <a:schemeClr val="tx1"/>
              </a:solidFill>
            </a:endParaRPr>
          </a:p>
        </p:txBody>
      </p:sp>
      <p:sp>
        <p:nvSpPr>
          <p:cNvPr id="63" name="Rectangle: Rounded Corners 62">
            <a:extLst>
              <a:ext uri="{FF2B5EF4-FFF2-40B4-BE49-F238E27FC236}">
                <a16:creationId xmlns:a16="http://schemas.microsoft.com/office/drawing/2014/main" id="{64A27DD9-824D-DF3C-FF86-5FFB97547AC6}"/>
              </a:ext>
            </a:extLst>
          </p:cNvPr>
          <p:cNvSpPr/>
          <p:nvPr/>
        </p:nvSpPr>
        <p:spPr>
          <a:xfrm>
            <a:off x="2541642" y="5058694"/>
            <a:ext cx="2266333" cy="540774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Strategic Bombing</a:t>
            </a:r>
            <a:endParaRPr lang="en-IN" b="1" dirty="0">
              <a:solidFill>
                <a:schemeClr val="tx1"/>
              </a:solidFill>
            </a:endParaRPr>
          </a:p>
        </p:txBody>
      </p:sp>
      <p:sp>
        <p:nvSpPr>
          <p:cNvPr id="64" name="Rectangle: Rounded Corners 63">
            <a:extLst>
              <a:ext uri="{FF2B5EF4-FFF2-40B4-BE49-F238E27FC236}">
                <a16:creationId xmlns:a16="http://schemas.microsoft.com/office/drawing/2014/main" id="{48C4A81F-CCDA-3DFE-1F99-23C4970DA94A}"/>
              </a:ext>
            </a:extLst>
          </p:cNvPr>
          <p:cNvSpPr/>
          <p:nvPr/>
        </p:nvSpPr>
        <p:spPr>
          <a:xfrm>
            <a:off x="6988276" y="3751009"/>
            <a:ext cx="2266333" cy="540774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Radar Disruption</a:t>
            </a:r>
            <a:endParaRPr lang="en-IN" b="1" dirty="0">
              <a:solidFill>
                <a:schemeClr val="tx1"/>
              </a:solidFill>
            </a:endParaRPr>
          </a:p>
        </p:txBody>
      </p:sp>
      <p:sp>
        <p:nvSpPr>
          <p:cNvPr id="65" name="Rectangle: Rounded Corners 64">
            <a:extLst>
              <a:ext uri="{FF2B5EF4-FFF2-40B4-BE49-F238E27FC236}">
                <a16:creationId xmlns:a16="http://schemas.microsoft.com/office/drawing/2014/main" id="{ECA82078-F60B-7BFC-51B2-75A19A734783}"/>
              </a:ext>
            </a:extLst>
          </p:cNvPr>
          <p:cNvSpPr/>
          <p:nvPr/>
        </p:nvSpPr>
        <p:spPr>
          <a:xfrm>
            <a:off x="6988276" y="5030430"/>
            <a:ext cx="2266333" cy="540774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Communication Interference</a:t>
            </a:r>
            <a:endParaRPr lang="en-IN" b="1" dirty="0">
              <a:solidFill>
                <a:schemeClr val="tx1"/>
              </a:solidFill>
            </a:endParaRPr>
          </a:p>
        </p:txBody>
      </p:sp>
      <p:cxnSp>
        <p:nvCxnSpPr>
          <p:cNvPr id="71" name="Connector: Elbow 70">
            <a:extLst>
              <a:ext uri="{FF2B5EF4-FFF2-40B4-BE49-F238E27FC236}">
                <a16:creationId xmlns:a16="http://schemas.microsoft.com/office/drawing/2014/main" id="{A9B04CF9-DF46-E4E5-6165-3EA9C4B71E38}"/>
              </a:ext>
            </a:extLst>
          </p:cNvPr>
          <p:cNvCxnSpPr>
            <a:cxnSpLocks/>
            <a:stCxn id="3" idx="2"/>
            <a:endCxn id="62" idx="1"/>
          </p:cNvCxnSpPr>
          <p:nvPr/>
        </p:nvCxnSpPr>
        <p:spPr>
          <a:xfrm rot="16200000" flipH="1">
            <a:off x="1771040" y="3358945"/>
            <a:ext cx="958643" cy="523568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6" name="Connector: Elbow 75">
            <a:extLst>
              <a:ext uri="{FF2B5EF4-FFF2-40B4-BE49-F238E27FC236}">
                <a16:creationId xmlns:a16="http://schemas.microsoft.com/office/drawing/2014/main" id="{F2B94396-DDF9-DBC8-250C-3DB2C0E31DBA}"/>
              </a:ext>
            </a:extLst>
          </p:cNvPr>
          <p:cNvCxnSpPr>
            <a:stCxn id="3" idx="2"/>
            <a:endCxn id="63" idx="1"/>
          </p:cNvCxnSpPr>
          <p:nvPr/>
        </p:nvCxnSpPr>
        <p:spPr>
          <a:xfrm rot="16200000" flipH="1">
            <a:off x="1171273" y="3958711"/>
            <a:ext cx="2187673" cy="553065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0" name="Connector: Elbow 79">
            <a:extLst>
              <a:ext uri="{FF2B5EF4-FFF2-40B4-BE49-F238E27FC236}">
                <a16:creationId xmlns:a16="http://schemas.microsoft.com/office/drawing/2014/main" id="{69E4A241-C5E9-E2CF-F4AC-3BD0EC1B0584}"/>
              </a:ext>
            </a:extLst>
          </p:cNvPr>
          <p:cNvCxnSpPr>
            <a:stCxn id="7" idx="2"/>
            <a:endCxn id="64" idx="3"/>
          </p:cNvCxnSpPr>
          <p:nvPr/>
        </p:nvCxnSpPr>
        <p:spPr>
          <a:xfrm rot="5400000">
            <a:off x="9289022" y="3106995"/>
            <a:ext cx="879988" cy="948814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2" name="Connector: Elbow 81">
            <a:extLst>
              <a:ext uri="{FF2B5EF4-FFF2-40B4-BE49-F238E27FC236}">
                <a16:creationId xmlns:a16="http://schemas.microsoft.com/office/drawing/2014/main" id="{19A2F030-C0B9-E780-CEE1-D2E3FB4BCDAB}"/>
              </a:ext>
            </a:extLst>
          </p:cNvPr>
          <p:cNvCxnSpPr>
            <a:stCxn id="7" idx="2"/>
            <a:endCxn id="65" idx="3"/>
          </p:cNvCxnSpPr>
          <p:nvPr/>
        </p:nvCxnSpPr>
        <p:spPr>
          <a:xfrm rot="5400000">
            <a:off x="8649312" y="3746705"/>
            <a:ext cx="2159409" cy="948814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569089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BA5BB1-72C3-075A-1B2E-9826C562BE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val 5">
            <a:extLst>
              <a:ext uri="{FF2B5EF4-FFF2-40B4-BE49-F238E27FC236}">
                <a16:creationId xmlns:a16="http://schemas.microsoft.com/office/drawing/2014/main" id="{68C4EF6C-C6B9-5CDE-D6EC-203B7B7D0AC7}"/>
              </a:ext>
            </a:extLst>
          </p:cNvPr>
          <p:cNvSpPr/>
          <p:nvPr/>
        </p:nvSpPr>
        <p:spPr>
          <a:xfrm>
            <a:off x="4232788" y="501444"/>
            <a:ext cx="2831690" cy="1032388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Missile </a:t>
            </a:r>
          </a:p>
          <a:p>
            <a:pPr algn="ctr"/>
            <a:r>
              <a:rPr lang="en-US" b="1" dirty="0">
                <a:solidFill>
                  <a:schemeClr val="tx1"/>
                </a:solidFill>
              </a:rPr>
              <a:t>Launch</a:t>
            </a:r>
            <a:endParaRPr lang="en-IN" b="1" dirty="0">
              <a:solidFill>
                <a:schemeClr val="tx1"/>
              </a:solidFill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51FC045F-F8B6-1E9C-DAB6-364FA93221AE}"/>
              </a:ext>
            </a:extLst>
          </p:cNvPr>
          <p:cNvSpPr/>
          <p:nvPr/>
        </p:nvSpPr>
        <p:spPr>
          <a:xfrm>
            <a:off x="4232788" y="2113935"/>
            <a:ext cx="2831690" cy="1032388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tx1"/>
                </a:solidFill>
              </a:rPr>
              <a:t>Detection by </a:t>
            </a:r>
          </a:p>
          <a:p>
            <a:pPr algn="ctr"/>
            <a:r>
              <a:rPr lang="en-IN" b="1" dirty="0">
                <a:solidFill>
                  <a:schemeClr val="tx1"/>
                </a:solidFill>
              </a:rPr>
              <a:t>Radar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C074C6C-824D-535A-BC58-245224E8CD0A}"/>
              </a:ext>
            </a:extLst>
          </p:cNvPr>
          <p:cNvSpPr/>
          <p:nvPr/>
        </p:nvSpPr>
        <p:spPr>
          <a:xfrm>
            <a:off x="4232788" y="3726426"/>
            <a:ext cx="2831690" cy="1032388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tx1"/>
                </a:solidFill>
              </a:rPr>
              <a:t>Counterattack Initiated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334BE84D-D3AD-4938-0278-85233D992E57}"/>
              </a:ext>
            </a:extLst>
          </p:cNvPr>
          <p:cNvSpPr/>
          <p:nvPr/>
        </p:nvSpPr>
        <p:spPr>
          <a:xfrm>
            <a:off x="4232788" y="5338917"/>
            <a:ext cx="2831690" cy="1032388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tx1"/>
                </a:solidFill>
              </a:rPr>
              <a:t>Enemy Base Damaged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D720FD65-AD7A-5292-6122-19939E659298}"/>
              </a:ext>
            </a:extLst>
          </p:cNvPr>
          <p:cNvCxnSpPr>
            <a:stCxn id="6" idx="4"/>
            <a:endCxn id="8" idx="0"/>
          </p:cNvCxnSpPr>
          <p:nvPr/>
        </p:nvCxnSpPr>
        <p:spPr>
          <a:xfrm>
            <a:off x="5648633" y="1533832"/>
            <a:ext cx="0" cy="580103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F87A94E9-46E0-D41A-3559-06E6942C46BA}"/>
              </a:ext>
            </a:extLst>
          </p:cNvPr>
          <p:cNvCxnSpPr/>
          <p:nvPr/>
        </p:nvCxnSpPr>
        <p:spPr>
          <a:xfrm>
            <a:off x="5648633" y="3146323"/>
            <a:ext cx="0" cy="580103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1D67852B-2422-9CB5-59AD-0676A8D39AB9}"/>
              </a:ext>
            </a:extLst>
          </p:cNvPr>
          <p:cNvCxnSpPr/>
          <p:nvPr/>
        </p:nvCxnSpPr>
        <p:spPr>
          <a:xfrm>
            <a:off x="5638801" y="4758814"/>
            <a:ext cx="0" cy="580103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BD5DA6C5-D7F2-04D5-CA3C-8B9BEDD0CFEC}"/>
              </a:ext>
            </a:extLst>
          </p:cNvPr>
          <p:cNvSpPr txBox="1"/>
          <p:nvPr/>
        </p:nvSpPr>
        <p:spPr>
          <a:xfrm>
            <a:off x="5648633" y="1639217"/>
            <a:ext cx="9586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triggers</a:t>
            </a:r>
            <a:endParaRPr lang="en-IN" b="1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689E1E9-8525-6F99-DD07-6D904A6705D3}"/>
              </a:ext>
            </a:extLst>
          </p:cNvPr>
          <p:cNvSpPr txBox="1"/>
          <p:nvPr/>
        </p:nvSpPr>
        <p:spPr>
          <a:xfrm>
            <a:off x="5648633" y="3293185"/>
            <a:ext cx="10471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leads to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77E3CAF7-1F1D-F33D-2D05-B9D44773B9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6286501" y="746022"/>
            <a:ext cx="543232" cy="543232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1F7A56CC-4EEC-4037-E1C2-5DD49EA798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7226" y="2340077"/>
            <a:ext cx="580103" cy="580103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B61FEDAA-E14F-1408-FA6B-910856F1DF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5661" y="4000500"/>
            <a:ext cx="543232" cy="543232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9B904EB4-09A4-5314-7E22-C076F2BD447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17226" y="5542933"/>
            <a:ext cx="575188" cy="575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82351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FC5E61-99D3-C437-48F8-6E943503FC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Rectangle: Rounded Corners 94">
            <a:extLst>
              <a:ext uri="{FF2B5EF4-FFF2-40B4-BE49-F238E27FC236}">
                <a16:creationId xmlns:a16="http://schemas.microsoft.com/office/drawing/2014/main" id="{D7F233AB-164A-1604-04E6-269DED895732}"/>
              </a:ext>
            </a:extLst>
          </p:cNvPr>
          <p:cNvSpPr/>
          <p:nvPr/>
        </p:nvSpPr>
        <p:spPr>
          <a:xfrm>
            <a:off x="2033565" y="4535127"/>
            <a:ext cx="1519084" cy="1014574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67AB8974-84A3-F687-633D-691385A56A36}"/>
              </a:ext>
            </a:extLst>
          </p:cNvPr>
          <p:cNvSpPr/>
          <p:nvPr/>
        </p:nvSpPr>
        <p:spPr>
          <a:xfrm>
            <a:off x="4127090" y="663677"/>
            <a:ext cx="3937819" cy="1327355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b="1" dirty="0">
              <a:solidFill>
                <a:schemeClr val="tx1"/>
              </a:solidFill>
            </a:endParaRP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6CDACF7E-1027-F0B5-808D-DBC034C6FA6D}"/>
              </a:ext>
            </a:extLst>
          </p:cNvPr>
          <p:cNvSpPr/>
          <p:nvPr/>
        </p:nvSpPr>
        <p:spPr>
          <a:xfrm>
            <a:off x="8064910" y="2835377"/>
            <a:ext cx="2298290" cy="1187246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F443B849-05C7-081C-FBE4-5AB7797FEB96}"/>
              </a:ext>
            </a:extLst>
          </p:cNvPr>
          <p:cNvSpPr/>
          <p:nvPr/>
        </p:nvSpPr>
        <p:spPr>
          <a:xfrm>
            <a:off x="8064910" y="5007077"/>
            <a:ext cx="2298290" cy="1187246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49B72E23-0D4B-61FE-F662-A625C826C53A}"/>
              </a:ext>
            </a:extLst>
          </p:cNvPr>
          <p:cNvSpPr/>
          <p:nvPr/>
        </p:nvSpPr>
        <p:spPr>
          <a:xfrm>
            <a:off x="2084000" y="2170779"/>
            <a:ext cx="1519084" cy="1519084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112960BD-0A78-5661-0885-B68E53EFA457}"/>
              </a:ext>
            </a:extLst>
          </p:cNvPr>
          <p:cNvSpPr/>
          <p:nvPr/>
        </p:nvSpPr>
        <p:spPr>
          <a:xfrm>
            <a:off x="5336458" y="3263081"/>
            <a:ext cx="1519084" cy="1519084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54AE5D06-334C-7902-58BD-AE19D56DBE0A}"/>
              </a:ext>
            </a:extLst>
          </p:cNvPr>
          <p:cNvCxnSpPr>
            <a:stCxn id="2" idx="2"/>
            <a:endCxn id="36" idx="0"/>
          </p:cNvCxnSpPr>
          <p:nvPr/>
        </p:nvCxnSpPr>
        <p:spPr>
          <a:xfrm>
            <a:off x="6096000" y="1991032"/>
            <a:ext cx="0" cy="127204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9DB62576-2593-C816-0A22-C03C49C76891}"/>
              </a:ext>
            </a:extLst>
          </p:cNvPr>
          <p:cNvCxnSpPr>
            <a:stCxn id="33" idx="2"/>
            <a:endCxn id="34" idx="0"/>
          </p:cNvCxnSpPr>
          <p:nvPr/>
        </p:nvCxnSpPr>
        <p:spPr>
          <a:xfrm>
            <a:off x="9214055" y="4022623"/>
            <a:ext cx="0" cy="98445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4" name="Picture 43">
            <a:extLst>
              <a:ext uri="{FF2B5EF4-FFF2-40B4-BE49-F238E27FC236}">
                <a16:creationId xmlns:a16="http://schemas.microsoft.com/office/drawing/2014/main" id="{969F4024-BCE2-50D4-8BA6-859BCE7691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36027" y="827138"/>
            <a:ext cx="1000431" cy="1000431"/>
          </a:xfrm>
          <a:prstGeom prst="rect">
            <a:avLst/>
          </a:prstGeom>
        </p:spPr>
      </p:pic>
      <p:sp>
        <p:nvSpPr>
          <p:cNvPr id="46" name="TextBox 45">
            <a:extLst>
              <a:ext uri="{FF2B5EF4-FFF2-40B4-BE49-F238E27FC236}">
                <a16:creationId xmlns:a16="http://schemas.microsoft.com/office/drawing/2014/main" id="{7320CE28-1F0B-98DA-D230-92F5B33E13C2}"/>
              </a:ext>
            </a:extLst>
          </p:cNvPr>
          <p:cNvSpPr txBox="1"/>
          <p:nvPr/>
        </p:nvSpPr>
        <p:spPr>
          <a:xfrm>
            <a:off x="5336458" y="827138"/>
            <a:ext cx="237949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5</a:t>
            </a:r>
            <a:r>
              <a:rPr lang="en-US" sz="2000" b="1" baseline="30000" dirty="0"/>
              <a:t>th</a:t>
            </a:r>
            <a:r>
              <a:rPr lang="en-US" sz="2000" b="1" dirty="0"/>
              <a:t> Armored Division</a:t>
            </a:r>
            <a:endParaRPr lang="en-IN" sz="2000" b="1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70ECCD0-96AC-2ED8-0CB2-8C0AAC6FF3F4}"/>
              </a:ext>
            </a:extLst>
          </p:cNvPr>
          <p:cNvSpPr txBox="1"/>
          <p:nvPr/>
        </p:nvSpPr>
        <p:spPr>
          <a:xfrm>
            <a:off x="5219086" y="1333489"/>
            <a:ext cx="24629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Military Unit</a:t>
            </a:r>
          </a:p>
        </p:txBody>
      </p:sp>
      <p:pic>
        <p:nvPicPr>
          <p:cNvPr id="51" name="Picture 50">
            <a:extLst>
              <a:ext uri="{FF2B5EF4-FFF2-40B4-BE49-F238E27FC236}">
                <a16:creationId xmlns:a16="http://schemas.microsoft.com/office/drawing/2014/main" id="{1380CCA5-968F-5CC5-D537-03301EB9CD6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25057" y="2253725"/>
            <a:ext cx="836969" cy="836969"/>
          </a:xfrm>
          <a:prstGeom prst="rect">
            <a:avLst/>
          </a:prstGeom>
        </p:spPr>
      </p:pic>
      <p:pic>
        <p:nvPicPr>
          <p:cNvPr id="53" name="Picture 52">
            <a:extLst>
              <a:ext uri="{FF2B5EF4-FFF2-40B4-BE49-F238E27FC236}">
                <a16:creationId xmlns:a16="http://schemas.microsoft.com/office/drawing/2014/main" id="{74549126-04E6-7C74-4AAB-B47A514E469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29418" y="3470172"/>
            <a:ext cx="1163893" cy="1163893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B21C90D-4728-293B-F301-AD41BFE803D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16698" y="2930321"/>
            <a:ext cx="997357" cy="997357"/>
          </a:xfrm>
          <a:prstGeom prst="rect">
            <a:avLst/>
          </a:prstGeom>
        </p:spPr>
      </p:pic>
      <p:cxnSp>
        <p:nvCxnSpPr>
          <p:cNvPr id="59" name="Connector: Elbow 58">
            <a:extLst>
              <a:ext uri="{FF2B5EF4-FFF2-40B4-BE49-F238E27FC236}">
                <a16:creationId xmlns:a16="http://schemas.microsoft.com/office/drawing/2014/main" id="{D0BC1CCE-B8C9-188A-EC41-E7D7A1A00963}"/>
              </a:ext>
            </a:extLst>
          </p:cNvPr>
          <p:cNvCxnSpPr>
            <a:stCxn id="2" idx="3"/>
            <a:endCxn id="33" idx="0"/>
          </p:cNvCxnSpPr>
          <p:nvPr/>
        </p:nvCxnSpPr>
        <p:spPr>
          <a:xfrm>
            <a:off x="8064909" y="1327355"/>
            <a:ext cx="1149146" cy="1508022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9" name="Picture 68">
            <a:extLst>
              <a:ext uri="{FF2B5EF4-FFF2-40B4-BE49-F238E27FC236}">
                <a16:creationId xmlns:a16="http://schemas.microsoft.com/office/drawing/2014/main" id="{10A50167-0FAF-BC2B-00AB-DF636FDFF2D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14709" y="4957379"/>
            <a:ext cx="1071801" cy="1071801"/>
          </a:xfrm>
          <a:prstGeom prst="rect">
            <a:avLst/>
          </a:prstGeom>
        </p:spPr>
      </p:pic>
      <p:sp>
        <p:nvSpPr>
          <p:cNvPr id="70" name="TextBox 69">
            <a:extLst>
              <a:ext uri="{FF2B5EF4-FFF2-40B4-BE49-F238E27FC236}">
                <a16:creationId xmlns:a16="http://schemas.microsoft.com/office/drawing/2014/main" id="{7C5B3D9F-27FD-4D9D-69AA-493F8BD795F3}"/>
              </a:ext>
            </a:extLst>
          </p:cNvPr>
          <p:cNvSpPr txBox="1"/>
          <p:nvPr/>
        </p:nvSpPr>
        <p:spPr>
          <a:xfrm>
            <a:off x="9131164" y="3115533"/>
            <a:ext cx="120440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T-90</a:t>
            </a:r>
          </a:p>
          <a:p>
            <a:pPr algn="ctr"/>
            <a:r>
              <a:rPr lang="en-US" b="1" dirty="0"/>
              <a:t> Tanks</a:t>
            </a:r>
            <a:endParaRPr lang="en-IN" b="1" dirty="0"/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E4BFF56D-8075-9F11-9223-7EF82F98DA14}"/>
              </a:ext>
            </a:extLst>
          </p:cNvPr>
          <p:cNvSpPr txBox="1"/>
          <p:nvPr/>
        </p:nvSpPr>
        <p:spPr>
          <a:xfrm>
            <a:off x="7715956" y="2030657"/>
            <a:ext cx="176427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Equipped with</a:t>
            </a:r>
            <a:endParaRPr lang="en-IN" b="1" dirty="0"/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D1812301-18F1-23EC-5E76-72B2040D0E63}"/>
              </a:ext>
            </a:extLst>
          </p:cNvPr>
          <p:cNvSpPr txBox="1"/>
          <p:nvPr/>
        </p:nvSpPr>
        <p:spPr>
          <a:xfrm>
            <a:off x="8319723" y="4273345"/>
            <a:ext cx="8657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Targets</a:t>
            </a:r>
            <a:endParaRPr lang="en-IN" b="1" dirty="0"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B0E104D6-FFC0-7AC7-DAAD-F85793B0B07D}"/>
              </a:ext>
            </a:extLst>
          </p:cNvPr>
          <p:cNvSpPr txBox="1"/>
          <p:nvPr/>
        </p:nvSpPr>
        <p:spPr>
          <a:xfrm>
            <a:off x="6095999" y="2487544"/>
            <a:ext cx="1016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Executes</a:t>
            </a:r>
            <a:endParaRPr lang="en-IN" b="1" dirty="0"/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0CD208A0-1825-8370-60CB-B4321C8AAB64}"/>
              </a:ext>
            </a:extLst>
          </p:cNvPr>
          <p:cNvSpPr txBox="1"/>
          <p:nvPr/>
        </p:nvSpPr>
        <p:spPr>
          <a:xfrm rot="19739506">
            <a:off x="3083355" y="1598634"/>
            <a:ext cx="109286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/>
              <a:t>Deployed</a:t>
            </a:r>
          </a:p>
          <a:p>
            <a:pPr algn="ctr"/>
            <a:r>
              <a:rPr lang="en-US" b="1" dirty="0"/>
              <a:t> to</a:t>
            </a:r>
            <a:endParaRPr lang="en-IN" b="1" dirty="0"/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6B3588C7-F098-B3BF-B3D6-04A6CDFED685}"/>
              </a:ext>
            </a:extLst>
          </p:cNvPr>
          <p:cNvSpPr txBox="1"/>
          <p:nvPr/>
        </p:nvSpPr>
        <p:spPr>
          <a:xfrm>
            <a:off x="2745345" y="4683911"/>
            <a:ext cx="88101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Enemy </a:t>
            </a:r>
          </a:p>
          <a:p>
            <a:r>
              <a:rPr lang="en-US" b="1" dirty="0"/>
              <a:t>Militia</a:t>
            </a:r>
            <a:endParaRPr lang="en-IN" b="1" dirty="0"/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3FE22DFC-52D5-9E24-3D7D-6201FC0CF162}"/>
              </a:ext>
            </a:extLst>
          </p:cNvPr>
          <p:cNvSpPr txBox="1"/>
          <p:nvPr/>
        </p:nvSpPr>
        <p:spPr>
          <a:xfrm>
            <a:off x="2723393" y="3783868"/>
            <a:ext cx="13144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Hostile Adversary</a:t>
            </a:r>
            <a:endParaRPr lang="en-IN" b="1" dirty="0"/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722C9BEE-BEAF-C537-D03D-493AE73F6292}"/>
              </a:ext>
            </a:extLst>
          </p:cNvPr>
          <p:cNvSpPr txBox="1"/>
          <p:nvPr/>
        </p:nvSpPr>
        <p:spPr>
          <a:xfrm>
            <a:off x="5514252" y="4857748"/>
            <a:ext cx="13714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Drone Strike</a:t>
            </a:r>
            <a:endParaRPr lang="en-IN" b="1" dirty="0"/>
          </a:p>
        </p:txBody>
      </p:sp>
      <p:cxnSp>
        <p:nvCxnSpPr>
          <p:cNvPr id="83" name="Connector: Elbow 82">
            <a:extLst>
              <a:ext uri="{FF2B5EF4-FFF2-40B4-BE49-F238E27FC236}">
                <a16:creationId xmlns:a16="http://schemas.microsoft.com/office/drawing/2014/main" id="{0DC36E18-B037-FE4F-B1A3-43B1F85A6DC7}"/>
              </a:ext>
            </a:extLst>
          </p:cNvPr>
          <p:cNvCxnSpPr>
            <a:stCxn id="79" idx="2"/>
            <a:endCxn id="34" idx="1"/>
          </p:cNvCxnSpPr>
          <p:nvPr/>
        </p:nvCxnSpPr>
        <p:spPr>
          <a:xfrm rot="16200000" flipH="1">
            <a:off x="6945621" y="4481411"/>
            <a:ext cx="373620" cy="1864957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4" name="TextBox 83">
            <a:extLst>
              <a:ext uri="{FF2B5EF4-FFF2-40B4-BE49-F238E27FC236}">
                <a16:creationId xmlns:a16="http://schemas.microsoft.com/office/drawing/2014/main" id="{DCB5A1FF-E103-4D54-7879-E0AC535C0DBF}"/>
              </a:ext>
            </a:extLst>
          </p:cNvPr>
          <p:cNvSpPr txBox="1"/>
          <p:nvPr/>
        </p:nvSpPr>
        <p:spPr>
          <a:xfrm>
            <a:off x="9392881" y="5233890"/>
            <a:ext cx="97031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Supply Convoy</a:t>
            </a:r>
            <a:endParaRPr lang="en-IN" b="1" dirty="0"/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11ECF146-530A-568F-DB34-4D08E198D751}"/>
              </a:ext>
            </a:extLst>
          </p:cNvPr>
          <p:cNvSpPr txBox="1"/>
          <p:nvPr/>
        </p:nvSpPr>
        <p:spPr>
          <a:xfrm>
            <a:off x="8580208" y="5806865"/>
            <a:ext cx="18000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Status=Damaged</a:t>
            </a:r>
            <a:endParaRPr lang="en-IN" b="1" dirty="0"/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0DDAF6E0-48FA-9157-5524-0EFE766D4AFA}"/>
              </a:ext>
            </a:extLst>
          </p:cNvPr>
          <p:cNvSpPr txBox="1"/>
          <p:nvPr/>
        </p:nvSpPr>
        <p:spPr>
          <a:xfrm>
            <a:off x="2425057" y="3043532"/>
            <a:ext cx="89037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Border </a:t>
            </a:r>
          </a:p>
          <a:p>
            <a:r>
              <a:rPr lang="en-US" b="1" dirty="0"/>
              <a:t>Region</a:t>
            </a:r>
            <a:endParaRPr lang="en-IN" b="1" dirty="0"/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0BB9EC3F-2A46-9785-67AF-05A40C5E6AED}"/>
              </a:ext>
            </a:extLst>
          </p:cNvPr>
          <p:cNvSpPr txBox="1"/>
          <p:nvPr/>
        </p:nvSpPr>
        <p:spPr>
          <a:xfrm>
            <a:off x="5295965" y="5844514"/>
            <a:ext cx="80003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Owns</a:t>
            </a:r>
            <a:endParaRPr lang="en-IN" b="1" dirty="0"/>
          </a:p>
        </p:txBody>
      </p:sp>
      <p:cxnSp>
        <p:nvCxnSpPr>
          <p:cNvPr id="102" name="Straight Arrow Connector 101">
            <a:extLst>
              <a:ext uri="{FF2B5EF4-FFF2-40B4-BE49-F238E27FC236}">
                <a16:creationId xmlns:a16="http://schemas.microsoft.com/office/drawing/2014/main" id="{7FD4909B-19A7-0BDA-686E-9964AB93CBD7}"/>
              </a:ext>
            </a:extLst>
          </p:cNvPr>
          <p:cNvCxnSpPr>
            <a:cxnSpLocks/>
            <a:endCxn id="35" idx="7"/>
          </p:cNvCxnSpPr>
          <p:nvPr/>
        </p:nvCxnSpPr>
        <p:spPr>
          <a:xfrm flipH="1">
            <a:off x="3380619" y="1895281"/>
            <a:ext cx="833683" cy="4979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05" name="Picture 104">
            <a:extLst>
              <a:ext uri="{FF2B5EF4-FFF2-40B4-BE49-F238E27FC236}">
                <a16:creationId xmlns:a16="http://schemas.microsoft.com/office/drawing/2014/main" id="{38A87938-A586-D1A4-B080-C676FAB8CE1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080886" y="4660878"/>
            <a:ext cx="712221" cy="712221"/>
          </a:xfrm>
          <a:prstGeom prst="rect">
            <a:avLst/>
          </a:prstGeom>
        </p:spPr>
      </p:pic>
      <p:cxnSp>
        <p:nvCxnSpPr>
          <p:cNvPr id="107" name="Straight Arrow Connector 106">
            <a:extLst>
              <a:ext uri="{FF2B5EF4-FFF2-40B4-BE49-F238E27FC236}">
                <a16:creationId xmlns:a16="http://schemas.microsoft.com/office/drawing/2014/main" id="{D79DCA80-9A10-01BB-6985-CBBF536C6F6C}"/>
              </a:ext>
            </a:extLst>
          </p:cNvPr>
          <p:cNvCxnSpPr>
            <a:stCxn id="95" idx="0"/>
            <a:endCxn id="35" idx="4"/>
          </p:cNvCxnSpPr>
          <p:nvPr/>
        </p:nvCxnSpPr>
        <p:spPr>
          <a:xfrm flipV="1">
            <a:off x="2793107" y="3689863"/>
            <a:ext cx="50435" cy="8452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9" name="Connector: Elbow 108">
            <a:extLst>
              <a:ext uri="{FF2B5EF4-FFF2-40B4-BE49-F238E27FC236}">
                <a16:creationId xmlns:a16="http://schemas.microsoft.com/office/drawing/2014/main" id="{7877E1E3-78BB-1ED3-F201-3D5C222BC0CF}"/>
              </a:ext>
            </a:extLst>
          </p:cNvPr>
          <p:cNvCxnSpPr>
            <a:cxnSpLocks/>
          </p:cNvCxnSpPr>
          <p:nvPr/>
        </p:nvCxnSpPr>
        <p:spPr>
          <a:xfrm rot="16200000" flipH="1">
            <a:off x="5173607" y="3151214"/>
            <a:ext cx="626496" cy="5421602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364969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699F0D-2FC8-7273-BED9-F3F1010D47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7C1ADFF1-9ED3-9838-7970-A8471CF95149}"/>
              </a:ext>
            </a:extLst>
          </p:cNvPr>
          <p:cNvSpPr/>
          <p:nvPr/>
        </p:nvSpPr>
        <p:spPr>
          <a:xfrm>
            <a:off x="1533832" y="2109019"/>
            <a:ext cx="2330245" cy="1319981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b="1" dirty="0">
              <a:solidFill>
                <a:schemeClr val="tx1"/>
              </a:solidFill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E64F329B-0088-B206-3E48-F6687084EEE9}"/>
              </a:ext>
            </a:extLst>
          </p:cNvPr>
          <p:cNvSpPr/>
          <p:nvPr/>
        </p:nvSpPr>
        <p:spPr>
          <a:xfrm>
            <a:off x="4930877" y="2109019"/>
            <a:ext cx="2330245" cy="1319981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b="1" dirty="0">
              <a:solidFill>
                <a:schemeClr val="tx1"/>
              </a:solidFill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AF90622B-2C0B-40A9-17B4-74B6F357FB10}"/>
              </a:ext>
            </a:extLst>
          </p:cNvPr>
          <p:cNvSpPr/>
          <p:nvPr/>
        </p:nvSpPr>
        <p:spPr>
          <a:xfrm>
            <a:off x="8327922" y="2109018"/>
            <a:ext cx="2330245" cy="1319981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b="1" dirty="0">
              <a:solidFill>
                <a:schemeClr val="tx1"/>
              </a:solidFill>
            </a:endParaRP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427C4747-61AF-F98C-8435-3EDC393E19F3}"/>
              </a:ext>
            </a:extLst>
          </p:cNvPr>
          <p:cNvCxnSpPr>
            <a:stCxn id="3" idx="3"/>
            <a:endCxn id="6" idx="1"/>
          </p:cNvCxnSpPr>
          <p:nvPr/>
        </p:nvCxnSpPr>
        <p:spPr>
          <a:xfrm>
            <a:off x="3864077" y="2769010"/>
            <a:ext cx="1066800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Connector: Elbow 10">
            <a:extLst>
              <a:ext uri="{FF2B5EF4-FFF2-40B4-BE49-F238E27FC236}">
                <a16:creationId xmlns:a16="http://schemas.microsoft.com/office/drawing/2014/main" id="{E4161AAF-2AF8-58E6-7293-36EB52E02615}"/>
              </a:ext>
            </a:extLst>
          </p:cNvPr>
          <p:cNvCxnSpPr>
            <a:stCxn id="6" idx="3"/>
            <a:endCxn id="7" idx="1"/>
          </p:cNvCxnSpPr>
          <p:nvPr/>
        </p:nvCxnSpPr>
        <p:spPr>
          <a:xfrm flipV="1">
            <a:off x="7261122" y="2769009"/>
            <a:ext cx="1066800" cy="1"/>
          </a:xfrm>
          <a:prstGeom prst="bentConnector3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3" name="Picture 12">
            <a:extLst>
              <a:ext uri="{FF2B5EF4-FFF2-40B4-BE49-F238E27FC236}">
                <a16:creationId xmlns:a16="http://schemas.microsoft.com/office/drawing/2014/main" id="{6BC92E6C-EE97-A572-FAC5-0D7CD5814C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2320" y="2453146"/>
            <a:ext cx="631723" cy="631723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6BAB1D34-E97E-D52A-7A91-0FADA83F2D15}"/>
              </a:ext>
            </a:extLst>
          </p:cNvPr>
          <p:cNvSpPr txBox="1"/>
          <p:nvPr/>
        </p:nvSpPr>
        <p:spPr>
          <a:xfrm>
            <a:off x="2342531" y="2438538"/>
            <a:ext cx="125790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LLM </a:t>
            </a:r>
          </a:p>
          <a:p>
            <a:pPr algn="ctr"/>
            <a:r>
              <a:rPr lang="en-US" b="1" dirty="0">
                <a:solidFill>
                  <a:schemeClr val="tx1"/>
                </a:solidFill>
              </a:rPr>
              <a:t>Generation</a:t>
            </a:r>
            <a:endParaRPr lang="en-IN" b="1" dirty="0">
              <a:solidFill>
                <a:schemeClr val="tx1"/>
              </a:solidFill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51182B59-5952-459A-D446-F864133098E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9422" y="2394152"/>
            <a:ext cx="749709" cy="749709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03C1334D-A26E-D381-F590-D6975CEF41DD}"/>
              </a:ext>
            </a:extLst>
          </p:cNvPr>
          <p:cNvSpPr txBox="1"/>
          <p:nvPr/>
        </p:nvSpPr>
        <p:spPr>
          <a:xfrm>
            <a:off x="5928321" y="2445840"/>
            <a:ext cx="124361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tx1"/>
                </a:solidFill>
              </a:rPr>
              <a:t>Knowledge</a:t>
            </a:r>
          </a:p>
          <a:p>
            <a:r>
              <a:rPr lang="en-US" b="1" dirty="0">
                <a:solidFill>
                  <a:schemeClr val="tx1"/>
                </a:solidFill>
              </a:rPr>
              <a:t> Extraction</a:t>
            </a:r>
            <a:endParaRPr lang="en-IN" b="1" dirty="0">
              <a:solidFill>
                <a:schemeClr val="tx1"/>
              </a:solidFill>
            </a:endParaRP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57048AFC-17D8-9EAB-FC2C-53F67670F42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17113" y="2362196"/>
            <a:ext cx="781665" cy="781665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369AF183-E5D1-9E24-2629-149D3D399434}"/>
              </a:ext>
            </a:extLst>
          </p:cNvPr>
          <p:cNvSpPr txBox="1"/>
          <p:nvPr/>
        </p:nvSpPr>
        <p:spPr>
          <a:xfrm>
            <a:off x="9287969" y="2485098"/>
            <a:ext cx="106259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Graph </a:t>
            </a:r>
          </a:p>
          <a:p>
            <a:pPr algn="ctr"/>
            <a:r>
              <a:rPr lang="en-US" b="1" dirty="0">
                <a:solidFill>
                  <a:schemeClr val="tx1"/>
                </a:solidFill>
              </a:rPr>
              <a:t>Updating</a:t>
            </a:r>
            <a:endParaRPr lang="en-IN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662174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C1A2FC-0782-ED2E-3C45-295880C76A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655811A6-B566-402A-A6A3-2E0A2DBA0DE3}"/>
              </a:ext>
            </a:extLst>
          </p:cNvPr>
          <p:cNvSpPr/>
          <p:nvPr/>
        </p:nvSpPr>
        <p:spPr>
          <a:xfrm>
            <a:off x="2462982" y="1312606"/>
            <a:ext cx="2418734" cy="1745221"/>
          </a:xfrm>
          <a:prstGeom prst="round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80759958-8A09-9466-1A3B-49A7E6AF66C1}"/>
              </a:ext>
            </a:extLst>
          </p:cNvPr>
          <p:cNvSpPr/>
          <p:nvPr/>
        </p:nvSpPr>
        <p:spPr>
          <a:xfrm>
            <a:off x="7310286" y="1312606"/>
            <a:ext cx="2418735" cy="1745221"/>
          </a:xfrm>
          <a:prstGeom prst="round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E4631253-E2C4-C457-4163-1085481B0423}"/>
              </a:ext>
            </a:extLst>
          </p:cNvPr>
          <p:cNvSpPr/>
          <p:nvPr/>
        </p:nvSpPr>
        <p:spPr>
          <a:xfrm>
            <a:off x="7320115" y="4026606"/>
            <a:ext cx="2418735" cy="1745220"/>
          </a:xfrm>
          <a:prstGeom prst="round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F3858B60-C38E-C63C-C032-A6BDE63F549F}"/>
              </a:ext>
            </a:extLst>
          </p:cNvPr>
          <p:cNvSpPr/>
          <p:nvPr/>
        </p:nvSpPr>
        <p:spPr>
          <a:xfrm>
            <a:off x="2481585" y="4026607"/>
            <a:ext cx="2418735" cy="1745219"/>
          </a:xfrm>
          <a:prstGeom prst="round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30A215C-0FB0-D500-3838-2549853CBFAC}"/>
              </a:ext>
            </a:extLst>
          </p:cNvPr>
          <p:cNvCxnSpPr>
            <a:cxnSpLocks/>
          </p:cNvCxnSpPr>
          <p:nvPr/>
        </p:nvCxnSpPr>
        <p:spPr>
          <a:xfrm>
            <a:off x="2462980" y="1799301"/>
            <a:ext cx="2418735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CC67C655-6C62-8B8B-1F34-0C7D67AFA0B7}"/>
              </a:ext>
            </a:extLst>
          </p:cNvPr>
          <p:cNvCxnSpPr>
            <a:cxnSpLocks/>
          </p:cNvCxnSpPr>
          <p:nvPr/>
        </p:nvCxnSpPr>
        <p:spPr>
          <a:xfrm>
            <a:off x="7310286" y="1784553"/>
            <a:ext cx="2418735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D6E4FB20-31E8-73BD-55DC-BC5FA6699BA9}"/>
              </a:ext>
            </a:extLst>
          </p:cNvPr>
          <p:cNvCxnSpPr>
            <a:cxnSpLocks/>
          </p:cNvCxnSpPr>
          <p:nvPr/>
        </p:nvCxnSpPr>
        <p:spPr>
          <a:xfrm>
            <a:off x="7310286" y="4562167"/>
            <a:ext cx="2418735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C6D9C4B4-0E70-2168-4132-77BCBBCC5E69}"/>
              </a:ext>
            </a:extLst>
          </p:cNvPr>
          <p:cNvCxnSpPr>
            <a:cxnSpLocks/>
          </p:cNvCxnSpPr>
          <p:nvPr/>
        </p:nvCxnSpPr>
        <p:spPr>
          <a:xfrm>
            <a:off x="2481585" y="4562167"/>
            <a:ext cx="2418735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269B381C-0F42-E380-D407-C3D82795E35D}"/>
              </a:ext>
            </a:extLst>
          </p:cNvPr>
          <p:cNvSpPr txBox="1"/>
          <p:nvPr/>
        </p:nvSpPr>
        <p:spPr>
          <a:xfrm>
            <a:off x="2743197" y="1415221"/>
            <a:ext cx="18582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Data Collection</a:t>
            </a:r>
            <a:endParaRPr lang="en-IN" b="1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6559E59-F801-8BD7-5919-C9C5BF6A241B}"/>
              </a:ext>
            </a:extLst>
          </p:cNvPr>
          <p:cNvSpPr txBox="1"/>
          <p:nvPr/>
        </p:nvSpPr>
        <p:spPr>
          <a:xfrm>
            <a:off x="7673462" y="1415221"/>
            <a:ext cx="17120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dirty="0"/>
              <a:t>Data Labelling</a:t>
            </a:r>
            <a:endParaRPr lang="en-IN" b="1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B063864-5E87-2838-DA99-B77D36FC0E8F}"/>
              </a:ext>
            </a:extLst>
          </p:cNvPr>
          <p:cNvSpPr txBox="1"/>
          <p:nvPr/>
        </p:nvSpPr>
        <p:spPr>
          <a:xfrm>
            <a:off x="7593575" y="4146251"/>
            <a:ext cx="183248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dirty="0"/>
              <a:t>Model Training</a:t>
            </a:r>
            <a:endParaRPr lang="en-IN" b="1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7139837-5557-D912-B547-4AC138345907}"/>
              </a:ext>
            </a:extLst>
          </p:cNvPr>
          <p:cNvSpPr txBox="1"/>
          <p:nvPr/>
        </p:nvSpPr>
        <p:spPr>
          <a:xfrm>
            <a:off x="2481585" y="4007751"/>
            <a:ext cx="241873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dirty="0"/>
              <a:t>Entity and Relationship</a:t>
            </a:r>
          </a:p>
          <a:p>
            <a:pPr algn="ctr"/>
            <a:r>
              <a:rPr lang="en-US" b="1" dirty="0"/>
              <a:t>Extraction</a:t>
            </a:r>
            <a:endParaRPr lang="en-IN" b="1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9BECFB5-E347-19C6-1405-290712DC70A6}"/>
              </a:ext>
            </a:extLst>
          </p:cNvPr>
          <p:cNvSpPr txBox="1"/>
          <p:nvPr/>
        </p:nvSpPr>
        <p:spPr>
          <a:xfrm>
            <a:off x="2297056" y="2534607"/>
            <a:ext cx="275057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/>
              <a:t>Gather unstructured texts</a:t>
            </a:r>
          </a:p>
          <a:p>
            <a:pPr algn="ctr"/>
            <a:r>
              <a:rPr lang="en-US" sz="1400" b="1" dirty="0"/>
              <a:t>relevant to military operations</a:t>
            </a:r>
            <a:endParaRPr lang="en-IN" sz="1400" b="1" dirty="0"/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3A8414DB-FE3B-CE4C-07CA-1CBFBEAAB0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32073" y="1885677"/>
            <a:ext cx="680541" cy="680541"/>
          </a:xfrm>
          <a:prstGeom prst="rect">
            <a:avLst/>
          </a:prstGeom>
        </p:spPr>
      </p:pic>
      <p:sp>
        <p:nvSpPr>
          <p:cNvPr id="37" name="Rectangle 36">
            <a:extLst>
              <a:ext uri="{FF2B5EF4-FFF2-40B4-BE49-F238E27FC236}">
                <a16:creationId xmlns:a16="http://schemas.microsoft.com/office/drawing/2014/main" id="{F91810D1-6209-D3EE-A856-9FF1073B87AE}"/>
              </a:ext>
            </a:extLst>
          </p:cNvPr>
          <p:cNvSpPr/>
          <p:nvPr/>
        </p:nvSpPr>
        <p:spPr>
          <a:xfrm>
            <a:off x="7529051" y="1906811"/>
            <a:ext cx="1961535" cy="606794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7042EC3-AF58-D75E-B913-D456D3FEF47F}"/>
              </a:ext>
            </a:extLst>
          </p:cNvPr>
          <p:cNvSpPr txBox="1"/>
          <p:nvPr/>
        </p:nvSpPr>
        <p:spPr>
          <a:xfrm>
            <a:off x="7703571" y="1888276"/>
            <a:ext cx="20057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The </a:t>
            </a:r>
            <a:r>
              <a:rPr lang="en-US" b="1" i="1" dirty="0"/>
              <a:t>enemy</a:t>
            </a:r>
            <a:r>
              <a:rPr lang="en-US" b="1" dirty="0"/>
              <a:t> base </a:t>
            </a:r>
            <a:r>
              <a:rPr lang="en-US" b="1" i="1" dirty="0"/>
              <a:t>attacks</a:t>
            </a:r>
            <a:r>
              <a:rPr lang="en-US" b="1" dirty="0"/>
              <a:t> the city</a:t>
            </a:r>
            <a:endParaRPr lang="en-IN" b="1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C875321-9DEF-AA30-F7DD-F4207318A1A5}"/>
              </a:ext>
            </a:extLst>
          </p:cNvPr>
          <p:cNvSpPr txBox="1"/>
          <p:nvPr/>
        </p:nvSpPr>
        <p:spPr>
          <a:xfrm>
            <a:off x="7476203" y="2521329"/>
            <a:ext cx="210901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/>
              <a:t>Annotate texts with entities and relationships.</a:t>
            </a:r>
            <a:endParaRPr lang="en-IN" sz="1400" b="1" dirty="0"/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1171C929-9D38-7FEE-0227-885B20025F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47256" y="4597707"/>
            <a:ext cx="764454" cy="764454"/>
          </a:xfrm>
          <a:prstGeom prst="rect">
            <a:avLst/>
          </a:prstGeom>
        </p:spPr>
      </p:pic>
      <p:sp>
        <p:nvSpPr>
          <p:cNvPr id="41" name="TextBox 40">
            <a:extLst>
              <a:ext uri="{FF2B5EF4-FFF2-40B4-BE49-F238E27FC236}">
                <a16:creationId xmlns:a16="http://schemas.microsoft.com/office/drawing/2014/main" id="{80EA9475-FBBC-608B-B128-A606BBB7B4B9}"/>
              </a:ext>
            </a:extLst>
          </p:cNvPr>
          <p:cNvSpPr txBox="1"/>
          <p:nvPr/>
        </p:nvSpPr>
        <p:spPr>
          <a:xfrm>
            <a:off x="6671800" y="4048175"/>
            <a:ext cx="20033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/>
              <a:t>Fine-tune the LLM </a:t>
            </a:r>
          </a:p>
          <a:p>
            <a:pPr algn="ctr"/>
            <a:r>
              <a:rPr lang="en-US" sz="1400" b="1" dirty="0"/>
              <a:t>using labeled datasets</a:t>
            </a:r>
            <a:endParaRPr lang="en-IN" sz="1400" b="1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C6FD7B6-7A5B-C670-C884-DFE5B80CAAE2}"/>
              </a:ext>
            </a:extLst>
          </p:cNvPr>
          <p:cNvSpPr txBox="1"/>
          <p:nvPr/>
        </p:nvSpPr>
        <p:spPr>
          <a:xfrm>
            <a:off x="2665324" y="4597707"/>
            <a:ext cx="205125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- troops movement</a:t>
            </a:r>
          </a:p>
          <a:p>
            <a:r>
              <a:rPr lang="en-US" sz="1400" b="1" dirty="0"/>
              <a:t>- supports</a:t>
            </a:r>
            <a:endParaRPr lang="en-IN" sz="1400" b="1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1152329C-8A9B-7653-C171-A64EA48A2652}"/>
              </a:ext>
            </a:extLst>
          </p:cNvPr>
          <p:cNvSpPr txBox="1"/>
          <p:nvPr/>
        </p:nvSpPr>
        <p:spPr>
          <a:xfrm>
            <a:off x="2707420" y="5120927"/>
            <a:ext cx="210103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/>
              <a:t>Utilize the fine-tuned model to extract relevant info.</a:t>
            </a:r>
            <a:endParaRPr lang="en-IN" sz="1400" b="1" dirty="0"/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EC8274ED-846C-C64D-2A19-C0C1841D6C37}"/>
              </a:ext>
            </a:extLst>
          </p:cNvPr>
          <p:cNvCxnSpPr>
            <a:stCxn id="2" idx="3"/>
            <a:endCxn id="4" idx="1"/>
          </p:cNvCxnSpPr>
          <p:nvPr/>
        </p:nvCxnSpPr>
        <p:spPr>
          <a:xfrm>
            <a:off x="4881716" y="2185217"/>
            <a:ext cx="242857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76F1107F-73B9-7AE5-DF01-4BE59E79A06D}"/>
              </a:ext>
            </a:extLst>
          </p:cNvPr>
          <p:cNvCxnSpPr>
            <a:stCxn id="4" idx="2"/>
            <a:endCxn id="5" idx="0"/>
          </p:cNvCxnSpPr>
          <p:nvPr/>
        </p:nvCxnSpPr>
        <p:spPr>
          <a:xfrm>
            <a:off x="8519654" y="3057827"/>
            <a:ext cx="9829" cy="96877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368BDA7D-534D-0678-EF11-68A23BE23CF8}"/>
              </a:ext>
            </a:extLst>
          </p:cNvPr>
          <p:cNvCxnSpPr>
            <a:stCxn id="5" idx="1"/>
            <a:endCxn id="8" idx="3"/>
          </p:cNvCxnSpPr>
          <p:nvPr/>
        </p:nvCxnSpPr>
        <p:spPr>
          <a:xfrm flipH="1">
            <a:off x="4900320" y="4899216"/>
            <a:ext cx="2419795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37850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E48464-540E-0C00-0785-1F9DDD0387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A51812A4-FF29-FDC3-F66F-4B0875024C2C}"/>
              </a:ext>
            </a:extLst>
          </p:cNvPr>
          <p:cNvSpPr/>
          <p:nvPr/>
        </p:nvSpPr>
        <p:spPr>
          <a:xfrm>
            <a:off x="1336146" y="2694889"/>
            <a:ext cx="2418734" cy="1442077"/>
          </a:xfrm>
          <a:prstGeom prst="round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5664429-D7FC-2A99-748F-29D761B618CC}"/>
              </a:ext>
            </a:extLst>
          </p:cNvPr>
          <p:cNvSpPr txBox="1"/>
          <p:nvPr/>
        </p:nvSpPr>
        <p:spPr>
          <a:xfrm>
            <a:off x="1446759" y="3677701"/>
            <a:ext cx="21975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Instruction Dataset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62124B4D-3CAE-9124-C4B1-F3E85204FCDB}"/>
              </a:ext>
            </a:extLst>
          </p:cNvPr>
          <p:cNvSpPr/>
          <p:nvPr/>
        </p:nvSpPr>
        <p:spPr>
          <a:xfrm>
            <a:off x="4464762" y="2668744"/>
            <a:ext cx="2418734" cy="1468222"/>
          </a:xfrm>
          <a:prstGeom prst="round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D83D0536-FB09-0994-619E-1D25B01844AF}"/>
              </a:ext>
            </a:extLst>
          </p:cNvPr>
          <p:cNvSpPr/>
          <p:nvPr/>
        </p:nvSpPr>
        <p:spPr>
          <a:xfrm>
            <a:off x="7616623" y="2646063"/>
            <a:ext cx="2418734" cy="1490903"/>
          </a:xfrm>
          <a:prstGeom prst="round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E55661B-3D4B-919D-A016-A2AFCE43F505}"/>
              </a:ext>
            </a:extLst>
          </p:cNvPr>
          <p:cNvSpPr txBox="1"/>
          <p:nvPr/>
        </p:nvSpPr>
        <p:spPr>
          <a:xfrm>
            <a:off x="4701967" y="3648348"/>
            <a:ext cx="19443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Instruction Tuning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830F29B-5BE3-8472-F66A-3366CC3295AB}"/>
              </a:ext>
            </a:extLst>
          </p:cNvPr>
          <p:cNvSpPr txBox="1"/>
          <p:nvPr/>
        </p:nvSpPr>
        <p:spPr>
          <a:xfrm>
            <a:off x="7616623" y="3573108"/>
            <a:ext cx="24187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Structured Military Task Execution</a:t>
            </a:r>
          </a:p>
        </p:txBody>
      </p:sp>
      <p:pic>
        <p:nvPicPr>
          <p:cNvPr id="48" name="Picture 47">
            <a:extLst>
              <a:ext uri="{FF2B5EF4-FFF2-40B4-BE49-F238E27FC236}">
                <a16:creationId xmlns:a16="http://schemas.microsoft.com/office/drawing/2014/main" id="{7D1BBA11-0775-94B0-D12B-58ACD7C5FC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6643" y="2899964"/>
            <a:ext cx="777737" cy="777737"/>
          </a:xfrm>
          <a:prstGeom prst="rect">
            <a:avLst/>
          </a:prstGeom>
        </p:spPr>
      </p:pic>
      <p:pic>
        <p:nvPicPr>
          <p:cNvPr id="58" name="Picture 57">
            <a:extLst>
              <a:ext uri="{FF2B5EF4-FFF2-40B4-BE49-F238E27FC236}">
                <a16:creationId xmlns:a16="http://schemas.microsoft.com/office/drawing/2014/main" id="{61C21D3F-8CA1-CFEE-A7DC-F3B6CC0D68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96226" y="2810930"/>
            <a:ext cx="955805" cy="866772"/>
          </a:xfrm>
          <a:prstGeom prst="rect">
            <a:avLst/>
          </a:prstGeom>
        </p:spPr>
      </p:pic>
      <p:pic>
        <p:nvPicPr>
          <p:cNvPr id="60" name="Picture 59">
            <a:extLst>
              <a:ext uri="{FF2B5EF4-FFF2-40B4-BE49-F238E27FC236}">
                <a16:creationId xmlns:a16="http://schemas.microsoft.com/office/drawing/2014/main" id="{1A4AB645-C8F7-030A-C3FB-90D09C17F7A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59996" y="2818162"/>
            <a:ext cx="931988" cy="837418"/>
          </a:xfrm>
          <a:prstGeom prst="rect">
            <a:avLst/>
          </a:prstGeom>
        </p:spPr>
      </p:pic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1A4F2812-7DFF-CC86-06E4-F1484EFA99D0}"/>
              </a:ext>
            </a:extLst>
          </p:cNvPr>
          <p:cNvCxnSpPr>
            <a:stCxn id="2" idx="3"/>
            <a:endCxn id="9" idx="1"/>
          </p:cNvCxnSpPr>
          <p:nvPr/>
        </p:nvCxnSpPr>
        <p:spPr>
          <a:xfrm flipV="1">
            <a:off x="3754880" y="3402855"/>
            <a:ext cx="709882" cy="1307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D72B8452-CFD7-3096-1D98-2B0855AA6490}"/>
              </a:ext>
            </a:extLst>
          </p:cNvPr>
          <p:cNvCxnSpPr>
            <a:stCxn id="9" idx="3"/>
            <a:endCxn id="10" idx="1"/>
          </p:cNvCxnSpPr>
          <p:nvPr/>
        </p:nvCxnSpPr>
        <p:spPr>
          <a:xfrm flipV="1">
            <a:off x="6883496" y="3391515"/>
            <a:ext cx="733127" cy="113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898143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378B22-6AF6-B1D9-0B02-C965B42205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44041DEC-429D-4AD8-30E1-1045620BFB66}"/>
              </a:ext>
            </a:extLst>
          </p:cNvPr>
          <p:cNvSpPr/>
          <p:nvPr/>
        </p:nvSpPr>
        <p:spPr>
          <a:xfrm>
            <a:off x="1336146" y="2694889"/>
            <a:ext cx="2418734" cy="1442077"/>
          </a:xfrm>
          <a:prstGeom prst="round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95749AE-0871-3DE6-B816-9264725027D5}"/>
              </a:ext>
            </a:extLst>
          </p:cNvPr>
          <p:cNvSpPr txBox="1"/>
          <p:nvPr/>
        </p:nvSpPr>
        <p:spPr>
          <a:xfrm>
            <a:off x="1446760" y="3500766"/>
            <a:ext cx="219750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External Intelligence Sources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B16BCF2-8B2A-62DE-58F2-2F3989DB5775}"/>
              </a:ext>
            </a:extLst>
          </p:cNvPr>
          <p:cNvSpPr/>
          <p:nvPr/>
        </p:nvSpPr>
        <p:spPr>
          <a:xfrm>
            <a:off x="4658801" y="2681816"/>
            <a:ext cx="2418734" cy="1468222"/>
          </a:xfrm>
          <a:prstGeom prst="round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F05FB261-123F-69FD-622A-A9A955AB5221}"/>
              </a:ext>
            </a:extLst>
          </p:cNvPr>
          <p:cNvSpPr/>
          <p:nvPr/>
        </p:nvSpPr>
        <p:spPr>
          <a:xfrm>
            <a:off x="8092070" y="2670475"/>
            <a:ext cx="2418734" cy="1490903"/>
          </a:xfrm>
          <a:prstGeom prst="round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A1B6826-AEBF-8930-F026-B15994DBB512}"/>
              </a:ext>
            </a:extLst>
          </p:cNvPr>
          <p:cNvSpPr txBox="1"/>
          <p:nvPr/>
        </p:nvSpPr>
        <p:spPr>
          <a:xfrm>
            <a:off x="4895261" y="3490635"/>
            <a:ext cx="194432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RAG Model (Retriever + LLM)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B82B981-1298-142E-881F-B940ABFFDE4F}"/>
              </a:ext>
            </a:extLst>
          </p:cNvPr>
          <p:cNvSpPr txBox="1"/>
          <p:nvPr/>
        </p:nvSpPr>
        <p:spPr>
          <a:xfrm>
            <a:off x="8092070" y="3590535"/>
            <a:ext cx="24187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Military-Use Output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DF278A83-59CE-7F5A-CBF5-57DA135C4258}"/>
              </a:ext>
            </a:extLst>
          </p:cNvPr>
          <p:cNvCxnSpPr>
            <a:stCxn id="2" idx="3"/>
            <a:endCxn id="9" idx="1"/>
          </p:cNvCxnSpPr>
          <p:nvPr/>
        </p:nvCxnSpPr>
        <p:spPr>
          <a:xfrm flipV="1">
            <a:off x="3754880" y="3415927"/>
            <a:ext cx="903921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B1357B82-3C86-6012-16E4-CD337A3B4539}"/>
              </a:ext>
            </a:extLst>
          </p:cNvPr>
          <p:cNvCxnSpPr>
            <a:stCxn id="9" idx="3"/>
            <a:endCxn id="10" idx="1"/>
          </p:cNvCxnSpPr>
          <p:nvPr/>
        </p:nvCxnSpPr>
        <p:spPr>
          <a:xfrm>
            <a:off x="7077535" y="3415927"/>
            <a:ext cx="101453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4" name="Picture 13">
            <a:extLst>
              <a:ext uri="{FF2B5EF4-FFF2-40B4-BE49-F238E27FC236}">
                <a16:creationId xmlns:a16="http://schemas.microsoft.com/office/drawing/2014/main" id="{CE4D39CE-3CC6-D849-6EB5-2EA9EDDE6E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85618" y="2770846"/>
            <a:ext cx="719789" cy="719789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D69F3B83-3131-C8E5-9555-C88F6B4DDA2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11922" y="2724226"/>
            <a:ext cx="911000" cy="911000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E5D18C75-936D-0BA2-4969-3C2EB78D7F5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84244" y="2766639"/>
            <a:ext cx="924451" cy="826173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0129E1A7-F8BB-47DD-1EAF-1329C903F617}"/>
              </a:ext>
            </a:extLst>
          </p:cNvPr>
          <p:cNvSpPr txBox="1"/>
          <p:nvPr/>
        </p:nvSpPr>
        <p:spPr>
          <a:xfrm>
            <a:off x="3462046" y="3442073"/>
            <a:ext cx="148958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Retrieve relevant </a:t>
            </a:r>
          </a:p>
          <a:p>
            <a:pPr algn="ctr"/>
            <a:r>
              <a:rPr lang="en-IN" b="1" dirty="0"/>
              <a:t>info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2CAF5A2-9E40-A293-8542-97F1A076DAE2}"/>
              </a:ext>
            </a:extLst>
          </p:cNvPr>
          <p:cNvSpPr txBox="1"/>
          <p:nvPr/>
        </p:nvSpPr>
        <p:spPr>
          <a:xfrm>
            <a:off x="6990010" y="3415926"/>
            <a:ext cx="121011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Generate grounded output</a:t>
            </a:r>
          </a:p>
        </p:txBody>
      </p:sp>
    </p:spTree>
    <p:extLst>
      <p:ext uri="{BB962C8B-B14F-4D97-AF65-F5344CB8AC3E}">
        <p14:creationId xmlns:p14="http://schemas.microsoft.com/office/powerpoint/2010/main" val="6458844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AD0AE8-32F2-126A-DCFF-D6999A52DF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AFFC1162-C192-0DB4-AD26-D8AA63FF4C83}"/>
              </a:ext>
            </a:extLst>
          </p:cNvPr>
          <p:cNvSpPr/>
          <p:nvPr/>
        </p:nvSpPr>
        <p:spPr>
          <a:xfrm>
            <a:off x="2618149" y="572085"/>
            <a:ext cx="2130833" cy="1818120"/>
          </a:xfrm>
          <a:prstGeom prst="round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1E04C32E-FD04-F639-17E5-5F3A42D7FF3A}"/>
              </a:ext>
            </a:extLst>
          </p:cNvPr>
          <p:cNvSpPr/>
          <p:nvPr/>
        </p:nvSpPr>
        <p:spPr>
          <a:xfrm>
            <a:off x="7620002" y="497377"/>
            <a:ext cx="2130833" cy="1892828"/>
          </a:xfrm>
          <a:prstGeom prst="round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6132ABCA-2FC1-1A80-92EF-BBF710CE90B2}"/>
              </a:ext>
            </a:extLst>
          </p:cNvPr>
          <p:cNvSpPr/>
          <p:nvPr/>
        </p:nvSpPr>
        <p:spPr>
          <a:xfrm>
            <a:off x="4321278" y="2707961"/>
            <a:ext cx="3661995" cy="1442077"/>
          </a:xfrm>
          <a:prstGeom prst="round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9768516-3140-EF31-EEA7-23323449C4B4}"/>
              </a:ext>
            </a:extLst>
          </p:cNvPr>
          <p:cNvSpPr txBox="1"/>
          <p:nvPr/>
        </p:nvSpPr>
        <p:spPr>
          <a:xfrm>
            <a:off x="3184870" y="497377"/>
            <a:ext cx="99738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/>
              <a:t>Model A</a:t>
            </a:r>
          </a:p>
          <a:p>
            <a:pPr algn="ctr"/>
            <a:r>
              <a:rPr lang="en-US" b="1" dirty="0"/>
              <a:t>[N.E.R]</a:t>
            </a:r>
            <a:endParaRPr lang="en-IN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7C51116-CA96-4401-3695-344865325D8F}"/>
              </a:ext>
            </a:extLst>
          </p:cNvPr>
          <p:cNvSpPr txBox="1"/>
          <p:nvPr/>
        </p:nvSpPr>
        <p:spPr>
          <a:xfrm>
            <a:off x="8191532" y="446466"/>
            <a:ext cx="98777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/>
              <a:t>Model B</a:t>
            </a:r>
          </a:p>
          <a:p>
            <a:pPr algn="ctr"/>
            <a:r>
              <a:rPr lang="en-US" b="1" dirty="0"/>
              <a:t>[R.E.]</a:t>
            </a:r>
            <a:endParaRPr lang="en-IN" b="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0F88DD5-C87D-0F5D-51CF-8D9942EB22A4}"/>
              </a:ext>
            </a:extLst>
          </p:cNvPr>
          <p:cNvSpPr txBox="1"/>
          <p:nvPr/>
        </p:nvSpPr>
        <p:spPr>
          <a:xfrm>
            <a:off x="2981420" y="1466875"/>
            <a:ext cx="213083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Fine-tuned to  extract military entities </a:t>
            </a:r>
            <a:endParaRPr lang="en-IN" b="1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8737455-3CD1-F2CD-AF5B-CB7E963ADC93}"/>
              </a:ext>
            </a:extLst>
          </p:cNvPr>
          <p:cNvSpPr txBox="1"/>
          <p:nvPr/>
        </p:nvSpPr>
        <p:spPr>
          <a:xfrm>
            <a:off x="7983273" y="1392167"/>
            <a:ext cx="141474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/>
              <a:t>Fine-tuned </a:t>
            </a:r>
          </a:p>
          <a:p>
            <a:r>
              <a:rPr lang="en-IN" b="1" dirty="0"/>
              <a:t>to Extract</a:t>
            </a:r>
          </a:p>
          <a:p>
            <a:r>
              <a:rPr lang="en-IN" b="1" dirty="0"/>
              <a:t>relationships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31B1448A-3C64-7285-7742-A5A0F46903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60398" y="1008917"/>
            <a:ext cx="646331" cy="646331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C4CAE5C9-9646-5AC8-AA33-275CE9488F6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75854" y="1006660"/>
            <a:ext cx="530637" cy="530637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7C8153AE-3A75-6101-657D-E6879F7C0B80}"/>
              </a:ext>
            </a:extLst>
          </p:cNvPr>
          <p:cNvSpPr txBox="1"/>
          <p:nvPr/>
        </p:nvSpPr>
        <p:spPr>
          <a:xfrm>
            <a:off x="5387034" y="2702551"/>
            <a:ext cx="160973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/>
              <a:t>Unified Model </a:t>
            </a:r>
          </a:p>
          <a:p>
            <a:pPr algn="ctr"/>
            <a:r>
              <a:rPr lang="en-US" b="1" dirty="0"/>
              <a:t>[NER + RE]</a:t>
            </a:r>
            <a:endParaRPr lang="en-IN" b="1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56FF7A8-545A-DE89-9FDF-643D79CDAA11}"/>
              </a:ext>
            </a:extLst>
          </p:cNvPr>
          <p:cNvSpPr txBox="1"/>
          <p:nvPr/>
        </p:nvSpPr>
        <p:spPr>
          <a:xfrm>
            <a:off x="3902779" y="3476280"/>
            <a:ext cx="45455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i="1" dirty="0"/>
              <a:t>Combines strengths of both, performs</a:t>
            </a:r>
          </a:p>
          <a:p>
            <a:pPr algn="ctr"/>
            <a:r>
              <a:rPr lang="en-US" b="1" i="1" dirty="0"/>
              <a:t> joint entity &amp; relation extraction</a:t>
            </a:r>
            <a:endParaRPr lang="en-IN" b="1" dirty="0"/>
          </a:p>
        </p:txBody>
      </p:sp>
      <p:pic>
        <p:nvPicPr>
          <p:cNvPr id="42" name="Picture 41">
            <a:extLst>
              <a:ext uri="{FF2B5EF4-FFF2-40B4-BE49-F238E27FC236}">
                <a16:creationId xmlns:a16="http://schemas.microsoft.com/office/drawing/2014/main" id="{79BD6BFE-69BB-7F73-0579-BE32B564392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61307" y="2801196"/>
            <a:ext cx="707923" cy="707923"/>
          </a:xfrm>
          <a:prstGeom prst="rect">
            <a:avLst/>
          </a:prstGeom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893AFF40-E5F4-B26B-CEE7-8AB19B022C9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40927" y="2782669"/>
            <a:ext cx="846107" cy="707924"/>
          </a:xfrm>
          <a:prstGeom prst="rect">
            <a:avLst/>
          </a:prstGeom>
        </p:spPr>
      </p:pic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FCFAC229-6B89-71CB-2DF2-E9A59C2827AF}"/>
              </a:ext>
            </a:extLst>
          </p:cNvPr>
          <p:cNvSpPr/>
          <p:nvPr/>
        </p:nvSpPr>
        <p:spPr>
          <a:xfrm>
            <a:off x="5126485" y="4816222"/>
            <a:ext cx="2130833" cy="1743412"/>
          </a:xfrm>
          <a:prstGeom prst="round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47" name="Picture 46">
            <a:extLst>
              <a:ext uri="{FF2B5EF4-FFF2-40B4-BE49-F238E27FC236}">
                <a16:creationId xmlns:a16="http://schemas.microsoft.com/office/drawing/2014/main" id="{AC34FC24-172D-EFB7-9D62-CD9F7B0EB2F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01643" y="4876182"/>
            <a:ext cx="897751" cy="897751"/>
          </a:xfrm>
          <a:prstGeom prst="rect">
            <a:avLst/>
          </a:prstGeom>
        </p:spPr>
      </p:pic>
      <p:sp>
        <p:nvSpPr>
          <p:cNvPr id="49" name="TextBox 48">
            <a:extLst>
              <a:ext uri="{FF2B5EF4-FFF2-40B4-BE49-F238E27FC236}">
                <a16:creationId xmlns:a16="http://schemas.microsoft.com/office/drawing/2014/main" id="{2D70BF8A-3B0C-6613-58F2-F923C6A5BE1F}"/>
              </a:ext>
            </a:extLst>
          </p:cNvPr>
          <p:cNvSpPr txBox="1"/>
          <p:nvPr/>
        </p:nvSpPr>
        <p:spPr>
          <a:xfrm>
            <a:off x="5053582" y="5636304"/>
            <a:ext cx="231101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dirty="0"/>
              <a:t>Enhanced information extraction from military texts</a:t>
            </a:r>
            <a:endParaRPr lang="en-IN" b="1" dirty="0"/>
          </a:p>
        </p:txBody>
      </p:sp>
      <p:cxnSp>
        <p:nvCxnSpPr>
          <p:cNvPr id="59" name="Connector: Elbow 58">
            <a:extLst>
              <a:ext uri="{FF2B5EF4-FFF2-40B4-BE49-F238E27FC236}">
                <a16:creationId xmlns:a16="http://schemas.microsoft.com/office/drawing/2014/main" id="{1DCB5661-D720-9A1C-0A71-0F81D3CE9522}"/>
              </a:ext>
            </a:extLst>
          </p:cNvPr>
          <p:cNvCxnSpPr>
            <a:cxnSpLocks/>
            <a:endCxn id="29" idx="0"/>
          </p:cNvCxnSpPr>
          <p:nvPr/>
        </p:nvCxnSpPr>
        <p:spPr>
          <a:xfrm>
            <a:off x="4748982" y="1466875"/>
            <a:ext cx="1442920" cy="1235676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2" name="Connector: Elbow 61">
            <a:extLst>
              <a:ext uri="{FF2B5EF4-FFF2-40B4-BE49-F238E27FC236}">
                <a16:creationId xmlns:a16="http://schemas.microsoft.com/office/drawing/2014/main" id="{B595DF7E-DF3E-F17C-A68B-80880AD2B00F}"/>
              </a:ext>
            </a:extLst>
          </p:cNvPr>
          <p:cNvCxnSpPr>
            <a:cxnSpLocks/>
          </p:cNvCxnSpPr>
          <p:nvPr/>
        </p:nvCxnSpPr>
        <p:spPr>
          <a:xfrm rot="10800000" flipV="1">
            <a:off x="6191902" y="1458539"/>
            <a:ext cx="1428100" cy="1258760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F1D2B6F0-0E4E-775C-15DD-8B222290001C}"/>
              </a:ext>
            </a:extLst>
          </p:cNvPr>
          <p:cNvCxnSpPr>
            <a:stCxn id="4" idx="2"/>
            <a:endCxn id="45" idx="0"/>
          </p:cNvCxnSpPr>
          <p:nvPr/>
        </p:nvCxnSpPr>
        <p:spPr>
          <a:xfrm>
            <a:off x="6152276" y="4150038"/>
            <a:ext cx="39626" cy="66618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713496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6389</TotalTime>
  <Words>312</Words>
  <Application>Microsoft Office PowerPoint</Application>
  <PresentationFormat>Widescreen</PresentationFormat>
  <Paragraphs>119</Paragraphs>
  <Slides>11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Wahaj Abedeen</dc:creator>
  <cp:lastModifiedBy>Wahaj Abedeen</cp:lastModifiedBy>
  <cp:revision>9</cp:revision>
  <dcterms:created xsi:type="dcterms:W3CDTF">2025-06-29T04:04:44Z</dcterms:created>
  <dcterms:modified xsi:type="dcterms:W3CDTF">2025-07-13T19:53:32Z</dcterms:modified>
</cp:coreProperties>
</file>